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jRsX+1lu7QdPbN8CCqt62vBJ/V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8783ad042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d8783ad04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8783ad042_1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d8783ad042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8783ad042_1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d8783ad042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8783ad042_1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d8783ad042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8783ad042_1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d8783ad042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8783ad042_1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d8783ad042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8783ad042_1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d8783ad042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8783ad042_1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d8783ad042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8783ad042_1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d8783ad042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2286000" y="1705905"/>
            <a:ext cx="7467600" cy="1757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5875">
            <a:spAutoFit/>
          </a:bodyPr>
          <a:lstStyle/>
          <a:p>
            <a:pPr indent="-373380" lvl="0" marL="385445" marR="508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n-US" sz="3600"/>
              <a:t>CHỦ ĐỀ 4-5</a:t>
            </a:r>
            <a:br>
              <a:rPr b="1" lang="en-US"/>
            </a:br>
            <a:r>
              <a:rPr b="1" lang="en-US"/>
              <a:t>NumPy and Pandas</a:t>
            </a:r>
            <a:endParaRPr b="1" sz="4000"/>
          </a:p>
        </p:txBody>
      </p:sp>
      <p:sp>
        <p:nvSpPr>
          <p:cNvPr id="85" name="Google Shape;85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400"/>
              <a:buFont typeface="Arial"/>
              <a:buNone/>
            </a:pPr>
            <a:r>
              <a:rPr b="1" i="0" lang="en-US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Giới thiệu về NumPy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00"/>
              <a:buFont typeface="Arial"/>
              <a:buChar char="•"/>
            </a:pPr>
            <a:r>
              <a:rPr b="1" i="0" lang="en-US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NumPy là gì?</a:t>
            </a:r>
            <a:endParaRPr b="0" i="0">
              <a:solidFill>
                <a:srgbClr val="11111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Char char="•"/>
            </a:pPr>
            <a:r>
              <a:rPr b="0" i="0" lang="en-US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NumPy (viết tắt của Numerical Python) là một thư viện mã nguồn mở của Python, được sử dụng rộng rãi trong các lĩnh vực khoa học và kỹ thuật.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2800"/>
              <a:buFont typeface="Arial"/>
              <a:buChar char="•"/>
            </a:pPr>
            <a:r>
              <a:rPr b="1" i="0" lang="en-US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Tại sao sử dụng NumPy?</a:t>
            </a:r>
            <a:endParaRPr b="0" i="0">
              <a:solidFill>
                <a:srgbClr val="11111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Char char="•"/>
            </a:pPr>
            <a:r>
              <a:rPr b="0" i="0" lang="en-US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Hiệu suất cao trong xử lý mảng lớn.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Char char="•"/>
            </a:pPr>
            <a:r>
              <a:rPr b="0" i="0" lang="en-US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Cung cấp các công cụ mạnh mẽ cho tính toán khoa học.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2800"/>
              <a:buFont typeface="Arial"/>
              <a:buChar char="•"/>
            </a:pPr>
            <a:r>
              <a:rPr b="1" i="0" lang="en-US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Các tính năng chính của NumPy:</a:t>
            </a:r>
            <a:endParaRPr b="0" i="0">
              <a:solidFill>
                <a:srgbClr val="11111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Char char="•"/>
            </a:pPr>
            <a:r>
              <a:rPr b="0" i="0" lang="en-US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Mảng đa chiều (N-dimensional array)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Char char="•"/>
            </a:pPr>
            <a:r>
              <a:rPr b="0" i="0" lang="en-US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Phép toán vector hóa (Vectorized operations)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Char char="•"/>
            </a:pPr>
            <a:r>
              <a:rPr b="0" i="0" lang="en-US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Broadcasting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Char char="•"/>
            </a:pPr>
            <a:r>
              <a:rPr b="0" i="0" lang="en-US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Hàm toán học và thống kê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400"/>
              <a:buFont typeface="Times New Roman"/>
              <a:buNone/>
            </a:pPr>
            <a:r>
              <a:rPr b="1" i="0" lang="en-US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NumMảng đa chiều (N-dimensional array)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3"/>
          <p:cNvSpPr txBox="1"/>
          <p:nvPr/>
        </p:nvSpPr>
        <p:spPr>
          <a:xfrm>
            <a:off x="710514" y="1697667"/>
            <a:ext cx="8648201" cy="100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2220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1600" u="none" cap="none" strike="noStrike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umPy cung cấp đối tượng mảng N-chiều mạnh mẽ, giúp lưu trữ và thao tác với dữ liệu số học hiệu quả.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1111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8" name="Google Shape;9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3822" y="2704987"/>
            <a:ext cx="5126589" cy="3510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400"/>
              <a:buFont typeface="Times New Roman"/>
              <a:buNone/>
            </a:pPr>
            <a:r>
              <a:rPr b="1" i="0" lang="en-US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NumMảng đa chiều (N-dimensional array)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4"/>
          <p:cNvSpPr txBox="1"/>
          <p:nvPr/>
        </p:nvSpPr>
        <p:spPr>
          <a:xfrm>
            <a:off x="710514" y="1820777"/>
            <a:ext cx="2603277" cy="7610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2220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Cách sử dụng mảng đa chiều:</a:t>
            </a:r>
            <a:endParaRPr b="0" i="0" sz="1600" u="none" cap="none" strike="noStrike">
              <a:solidFill>
                <a:srgbClr val="1111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5" name="Google Shape;10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45669" y="1980777"/>
            <a:ext cx="7056732" cy="4877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400"/>
              <a:buFont typeface="Times New Roman"/>
              <a:buNone/>
            </a:pPr>
            <a:r>
              <a:rPr b="1" i="0" lang="en-US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Phép toán vector hóa (Vectorized operations)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5"/>
          <p:cNvSpPr txBox="1"/>
          <p:nvPr/>
        </p:nvSpPr>
        <p:spPr>
          <a:xfrm>
            <a:off x="710514" y="2066999"/>
            <a:ext cx="10494348" cy="268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2220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Phép toán vector hóa : 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Thực hiện các phép toán trên toàn bộ mảng mà không cần viết vòng lặp, giúp tăng tốc độ xử lý dữ liệu.</a:t>
            </a:r>
            <a:endParaRPr/>
          </a:p>
        </p:txBody>
      </p:sp>
      <p:pic>
        <p:nvPicPr>
          <p:cNvPr id="112" name="Google Shape;11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6338" y="2773993"/>
            <a:ext cx="5799323" cy="3718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400"/>
              <a:buFont typeface="Times New Roman"/>
              <a:buNone/>
            </a:pPr>
            <a:r>
              <a:rPr b="1" i="0" lang="en-US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Broadcasting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6"/>
          <p:cNvSpPr txBox="1"/>
          <p:nvPr/>
        </p:nvSpPr>
        <p:spPr>
          <a:xfrm>
            <a:off x="710514" y="1697667"/>
            <a:ext cx="10976338" cy="100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2220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Broadcasting: T</a:t>
            </a:r>
            <a:r>
              <a:rPr b="0" i="0" lang="en-US" sz="1600" u="none" cap="none" strike="noStrike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ự động mở rộng kích thước của các mảng để phù hợp với nhau trong các phép toán, giúp đơn giản hóa mã nguồn.</a:t>
            </a:r>
            <a:endParaRPr b="0" i="0" sz="1600" u="none" cap="none" strike="noStrike">
              <a:solidFill>
                <a:srgbClr val="1111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1111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9" name="Google Shape;11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4408" y="2582353"/>
            <a:ext cx="6043184" cy="37569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400"/>
              <a:buFont typeface="Times New Roman"/>
              <a:buNone/>
            </a:pPr>
            <a:r>
              <a:rPr b="1" i="0" lang="en-US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Hàm toán học và thống kê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7"/>
          <p:cNvSpPr txBox="1"/>
          <p:nvPr/>
        </p:nvSpPr>
        <p:spPr>
          <a:xfrm>
            <a:off x="710514" y="1697667"/>
            <a:ext cx="11135036" cy="100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2220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Hàm toán học và thống kê: </a:t>
            </a:r>
            <a:r>
              <a:rPr b="0" i="0" lang="en-US" sz="1600" u="none" cap="none" strike="noStrike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cung cấp nhiều hàm toán học và thống kê như mean, median, std, v.v., giúp phân tích dữ liệu tài chính..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1111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6" name="Google Shape;12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67888" y="2316086"/>
            <a:ext cx="4656223" cy="4541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400"/>
              <a:buFont typeface="Arial"/>
              <a:buNone/>
            </a:pPr>
            <a:r>
              <a:rPr b="1" i="0" lang="en-US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Giới thiệu về Pandas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8"/>
          <p:cNvSpPr txBox="1"/>
          <p:nvPr/>
        </p:nvSpPr>
        <p:spPr>
          <a:xfrm>
            <a:off x="713064" y="1603067"/>
            <a:ext cx="10515600" cy="4946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22200" lIns="0" spcFirstLastPara="1" rIns="0" wrap="square" tIns="0">
            <a:sp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Pandas là gì?</a:t>
            </a:r>
            <a:endParaRPr b="0" i="0" sz="2800" u="none" cap="none" strike="noStrike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Pandas là một thư viện mã nguồn mở của Python, được phát triển bởi Wes McKinney vào năm 2008.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Tại sao sử dụng Pandas?</a:t>
            </a:r>
            <a:endParaRPr b="0" i="0" sz="2800" u="none" cap="none" strike="noStrike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Hiệu suất cao trong xử lý dữ liệu có cấu trúc.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Cung cấp các công cụ mạnh mẽ cho thao tác và phân tích dữ liệu.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Các tính năng chính của Pandas:</a:t>
            </a:r>
            <a:endParaRPr b="0" i="0" sz="2800" u="none" cap="none" strike="noStrike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DataFrame và Series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Đọc và ghi dữ liệu từ nhiều định dạng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Xử lý dữ liệu thiếu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Thao tác dữ liệu</a:t>
            </a:r>
            <a:endParaRPr b="0" i="0" sz="2400" u="none" cap="none" strike="noStrike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Ứng dụng trong phân tích tài chính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400"/>
              <a:buFont typeface="Times New Roman"/>
              <a:buNone/>
            </a:pPr>
            <a:r>
              <a:rPr b="1" i="0" lang="en-US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DataFrame và Series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9"/>
          <p:cNvSpPr txBox="1"/>
          <p:nvPr/>
        </p:nvSpPr>
        <p:spPr>
          <a:xfrm>
            <a:off x="4994190" y="1395650"/>
            <a:ext cx="6482544" cy="5148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2220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DataFrame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Cấu trúc dữ liệu chính của Pandas, tương tự như bảng tính Excel.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Series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Một mảng một chiều, tương tự như một cột trong bảng tính.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9" name="Google Shape;139;p9"/>
          <p:cNvPicPr preferRelativeResize="0"/>
          <p:nvPr/>
        </p:nvPicPr>
        <p:blipFill rotWithShape="1">
          <a:blip r:embed="rId3">
            <a:alphaModFix/>
          </a:blip>
          <a:srcRect b="0" l="0" r="11589" t="0"/>
          <a:stretch/>
        </p:blipFill>
        <p:spPr>
          <a:xfrm>
            <a:off x="838200" y="1562473"/>
            <a:ext cx="3975146" cy="5204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5525" y="2630597"/>
            <a:ext cx="5372566" cy="39703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8783ad042_1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d8783ad042_1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8783ad042_1_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d8783ad042_1_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8783ad042_1_1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d8783ad042_1_1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8783ad042_1_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d8783ad042_1_1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8783ad042_1_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d8783ad042_1_2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8783ad042_1_2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d8783ad042_1_2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8783ad042_1_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d8783ad042_1_3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8783ad042_1_3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d8783ad042_1_3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d8783ad042_1_4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d8783ad042_1_4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400"/>
              <a:buFont typeface="Times New Roman"/>
              <a:buNone/>
            </a:pPr>
            <a:r>
              <a:rPr b="1" i="0" lang="en-US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Đọc và ghi dữ liệu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10"/>
          <p:cNvSpPr txBox="1"/>
          <p:nvPr/>
        </p:nvSpPr>
        <p:spPr>
          <a:xfrm>
            <a:off x="710514" y="2066999"/>
            <a:ext cx="8624925" cy="268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2220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Đọc và ghi dữ liệu: Pandas hỗ trợ đọc và ghi dữ liệu từ nhiều định dạng như CSV, Excel, SQL, và JSON.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1" name="Google Shape;20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0514" y="2711966"/>
            <a:ext cx="4938188" cy="3048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4194" y="3074420"/>
            <a:ext cx="4191363" cy="2895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400"/>
              <a:buFont typeface="Times New Roman"/>
              <a:buNone/>
            </a:pPr>
            <a:r>
              <a:rPr b="1" i="0" lang="en-US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Xử lý dữ liệu thiếu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p11"/>
          <p:cNvSpPr txBox="1"/>
          <p:nvPr/>
        </p:nvSpPr>
        <p:spPr>
          <a:xfrm>
            <a:off x="710514" y="2066999"/>
            <a:ext cx="10371429" cy="268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2220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Xử lý dữ liệu thiếu: Pandas cung cấp các phương pháp để xử lý dữ liệu thiếu, chẳng hạn như loại bỏ hoặc điền giá trị thay thế.</a:t>
            </a:r>
            <a:endParaRPr/>
          </a:p>
        </p:txBody>
      </p:sp>
      <p:pic>
        <p:nvPicPr>
          <p:cNvPr id="209" name="Google Shape;20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3083" y="2825546"/>
            <a:ext cx="4663844" cy="3101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2949088"/>
            <a:ext cx="5563082" cy="3711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400"/>
              <a:buFont typeface="Times New Roman"/>
              <a:buNone/>
            </a:pPr>
            <a:r>
              <a:rPr b="1" i="0" lang="en-US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Thao tác dữ liệu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" name="Google Shape;216;p12"/>
          <p:cNvSpPr txBox="1"/>
          <p:nvPr/>
        </p:nvSpPr>
        <p:spPr>
          <a:xfrm>
            <a:off x="751704" y="1610187"/>
            <a:ext cx="1338508" cy="268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2220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Thao tác dữ liệu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7" name="Google Shape;21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4755" y="2066999"/>
            <a:ext cx="7262489" cy="45571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Font typeface="Times New Roman"/>
              <a:buNone/>
            </a:pPr>
            <a:r>
              <a:rPr b="1" i="0" lang="en-US" sz="40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Ứng dụng của Pandas trong phân tích tài chính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3" name="Google Shape;22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7707" y="1463239"/>
            <a:ext cx="4938188" cy="50296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Font typeface="Times New Roman"/>
              <a:buNone/>
            </a:pPr>
            <a:r>
              <a:rPr b="1" i="0" lang="en-US" sz="40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Ứng dụng của Pandas trong phân tích tài chính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9" name="Google Shape;22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8518" y="1437379"/>
            <a:ext cx="6142252" cy="5235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00770" y="1437379"/>
            <a:ext cx="4884843" cy="2530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864 Thankyou Stock Photos | Free &amp; Royalty-free Thankyou Images |  Depositphotos" id="235" name="Google Shape;23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4618" y="1203011"/>
            <a:ext cx="3604334" cy="30158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y Questions Thanks For Your Time drawing free image download" id="236" name="Google Shape;236;p15"/>
          <p:cNvPicPr preferRelativeResize="0"/>
          <p:nvPr/>
        </p:nvPicPr>
        <p:blipFill rotWithShape="1">
          <a:blip r:embed="rId4">
            <a:alphaModFix/>
          </a:blip>
          <a:srcRect b="0" l="0" r="12065" t="9437"/>
          <a:stretch/>
        </p:blipFill>
        <p:spPr>
          <a:xfrm>
            <a:off x="4961500" y="1161922"/>
            <a:ext cx="5575176" cy="4693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2024-10-18T03:53:59Z</dcterms:created>
  <dc:creator>Tom Tran</dc:creator>
</cp:coreProperties>
</file>