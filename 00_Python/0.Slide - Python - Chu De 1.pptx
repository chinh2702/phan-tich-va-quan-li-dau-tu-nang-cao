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9144000"/>
  <p:notesSz cx="9144000" cy="6858000"/>
  <p:embeddedFontLst>
    <p:embeddedFont>
      <p:font typeface="Roboto"/>
      <p:regular r:id="rId25"/>
      <p:bold r:id="rId26"/>
      <p:italic r:id="rId27"/>
      <p:boldItalic r:id="rId28"/>
    </p:embeddedFont>
    <p:embeddedFont>
      <p:font typeface="Quattrocento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jZufz12Gk6wePywMOkOM3Pea9V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B95E8E-71C8-4F0B-8B46-0726A9E476DD}">
  <a:tblStyle styleId="{0FB95E8E-71C8-4F0B-8B46-0726A9E476D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Quattrocento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QuattrocentoSans-italic.fntdata"/><Relationship Id="rId30" Type="http://schemas.openxmlformats.org/officeDocument/2006/relationships/font" Target="fonts/QuattrocentoSans-bold.fntdata"/><Relationship Id="rId11" Type="http://schemas.openxmlformats.org/officeDocument/2006/relationships/slide" Target="slides/slide5.xml"/><Relationship Id="rId33" Type="http://customschemas.google.com/relationships/presentationmetadata" Target="metadata"/><Relationship Id="rId10" Type="http://schemas.openxmlformats.org/officeDocument/2006/relationships/slide" Target="slides/slide4.xml"/><Relationship Id="rId32" Type="http://schemas.openxmlformats.org/officeDocument/2006/relationships/font" Target="fonts/QuattrocentoSans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87668c5c0_0_0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87668c5c0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87668c5c0_0_3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87668c5c0_0_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87668c5c0_0_6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87668c5c0_0_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1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2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3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3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3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5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25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2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6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26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2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8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ww.python.org/doc/versions/" TargetMode="External"/><Relationship Id="rId4" Type="http://schemas.openxmlformats.org/officeDocument/2006/relationships/hyperlink" Target="http://www.python.org/doc/versions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6.png"/><Relationship Id="rId5" Type="http://schemas.openxmlformats.org/officeDocument/2006/relationships/hyperlink" Target="http://www.python.org/downloads/" TargetMode="External"/><Relationship Id="rId6" Type="http://schemas.openxmlformats.org/officeDocument/2006/relationships/hyperlink" Target="http://www.python.org/downloads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python.org/downloads/" TargetMode="External"/><Relationship Id="rId4" Type="http://schemas.openxmlformats.org/officeDocument/2006/relationships/hyperlink" Target="https://www.anaconda.com/download" TargetMode="External"/><Relationship Id="rId5" Type="http://schemas.openxmlformats.org/officeDocument/2006/relationships/hyperlink" Target="https://colab.research.google.com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title"/>
          </p:nvPr>
        </p:nvSpPr>
        <p:spPr>
          <a:xfrm>
            <a:off x="762000" y="1293227"/>
            <a:ext cx="7467600" cy="25830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5875">
            <a:spAutoFit/>
          </a:bodyPr>
          <a:lstStyle/>
          <a:p>
            <a:pPr indent="-373380" lvl="0" marL="385445" marR="508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CHỦ ĐỀ 1</a:t>
            </a:r>
            <a:br>
              <a:rPr lang="en-US"/>
            </a:br>
            <a:r>
              <a:rPr b="1" lang="en-US" sz="4000"/>
              <a:t>GIỚI THIỆU VỀ PYTHON VÀ KIẾN THỨC CƠ BẢN </a:t>
            </a:r>
            <a:endParaRPr b="1" sz="4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304800" y="152400"/>
            <a:ext cx="8150860" cy="4191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765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424456"/>
                </a:solidFill>
                <a:latin typeface="Arial"/>
                <a:ea typeface="Arial"/>
                <a:cs typeface="Arial"/>
                <a:sym typeface="Arial"/>
              </a:rPr>
              <a:t>NỘI DUNG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sao học Python?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Tải và cài đặt môi trường Python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Kiểu dữ liệu cơ bản và khai báo biến 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Cách Truy Xuất Phần Tử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 toán tử trong Python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Một số hàm xây dựng sẵn trong Python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/>
        </p:nvSpPr>
        <p:spPr>
          <a:xfrm>
            <a:off x="78739" y="33019"/>
            <a:ext cx="825055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NO PAIN NO GAIN	</a:t>
            </a: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Giới thiệu lập trình với Python</a:t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9" name="Google Shape;109;p3"/>
          <p:cNvSpPr txBox="1"/>
          <p:nvPr>
            <p:ph type="title"/>
          </p:nvPr>
        </p:nvSpPr>
        <p:spPr>
          <a:xfrm>
            <a:off x="307340" y="559309"/>
            <a:ext cx="8096884" cy="51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1. Vì sao học lập trình Python?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876531" y="1011427"/>
            <a:ext cx="7722234" cy="136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0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26064"/>
                </a:solidFill>
                <a:latin typeface="Arial"/>
                <a:ea typeface="Arial"/>
                <a:cs typeface="Arial"/>
                <a:sym typeface="Arial"/>
              </a:rPr>
              <a:t>Python là gì?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15833"/>
              </a:lnSpc>
              <a:spcBef>
                <a:spcPts val="118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là ngôn ngữ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lập trình hướng đối tượng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cấp cao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mạnh  mẽ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được tạo ra bởi Guido van Rossum.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1" name="Google Shape;111;p3"/>
          <p:cNvGraphicFramePr/>
          <p:nvPr/>
        </p:nvGraphicFramePr>
        <p:xfrm>
          <a:off x="1136650" y="25318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{0FB95E8E-71C8-4F0B-8B46-0726A9E476DD}</a:tableStyleId>
              </a:tblPr>
              <a:tblGrid>
                <a:gridCol w="4495800"/>
                <a:gridCol w="2438400"/>
              </a:tblGrid>
              <a:tr h="466425">
                <a:tc>
                  <a:txBody>
                    <a:bodyPr/>
                    <a:lstStyle/>
                    <a:p>
                      <a:pPr indent="0" lvl="0" marL="952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Phiên bản</a:t>
                      </a:r>
                      <a:endParaRPr sz="2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52075" marB="0" marR="0" marL="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1973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Phát hành</a:t>
                      </a:r>
                      <a:endParaRPr sz="2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52075" marB="0" marR="0" marL="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8086"/>
                    </a:solidFill>
                  </a:tcPr>
                </a:tc>
              </a:tr>
              <a:tr h="404725">
                <a:tc>
                  <a:txBody>
                    <a:bodyPr/>
                    <a:lstStyle/>
                    <a:p>
                      <a:pPr indent="-342900" lvl="0" marL="4114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Noto Sans Symbols"/>
                        <a:buChar char="−"/>
                      </a:pPr>
                      <a:r>
                        <a:rPr lang="en-US" sz="19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Python 2.7</a:t>
                      </a:r>
                      <a:endParaRPr sz="1400" u="none" cap="none" strike="noStrike"/>
                    </a:p>
                  </a:txBody>
                  <a:tcPr marT="37475" marB="0" marR="0" marL="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79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03/07/2010</a:t>
                      </a:r>
                      <a:endParaRPr sz="19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37475" marB="0" marR="0" marL="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ED"/>
                    </a:solidFill>
                  </a:tcPr>
                </a:tc>
              </a:tr>
              <a:tr h="405575">
                <a:tc>
                  <a:txBody>
                    <a:bodyPr/>
                    <a:lstStyle/>
                    <a:p>
                      <a:pPr indent="-342900" lvl="0" marL="4114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Noto Sans Symbols"/>
                        <a:buChar char="−"/>
                      </a:pPr>
                      <a:r>
                        <a:rPr lang="en-US" sz="19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Python 3.9</a:t>
                      </a:r>
                      <a:endParaRPr sz="1400" u="none" cap="none" strike="noStrike"/>
                    </a:p>
                  </a:txBody>
                  <a:tcPr marT="36200" marB="0" marR="0" marL="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79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05/10/2020</a:t>
                      </a:r>
                      <a:endParaRPr sz="19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36200" marB="0" marR="0" marL="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8D9"/>
                    </a:solidFill>
                  </a:tcPr>
                </a:tc>
              </a:tr>
            </a:tbl>
          </a:graphicData>
        </a:graphic>
      </p:graphicFrame>
      <p:sp>
        <p:nvSpPr>
          <p:cNvPr id="112" name="Google Shape;112;p3"/>
          <p:cNvSpPr txBox="1"/>
          <p:nvPr/>
        </p:nvSpPr>
        <p:spPr>
          <a:xfrm>
            <a:off x="4038600" y="3941254"/>
            <a:ext cx="369824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sng" cap="none" strike="noStrike">
                <a:solidFill>
                  <a:srgbClr val="2B4A5E"/>
                </a:solidFill>
                <a:latin typeface="Georgia"/>
                <a:ea typeface="Georgia"/>
                <a:cs typeface="Georgia"/>
                <a:sym typeface="Georgia"/>
              </a:rPr>
              <a:t>https:</a:t>
            </a:r>
            <a:r>
              <a:rPr b="0" i="1" lang="en-US" sz="1600" u="sng" cap="none" strike="noStrike">
                <a:solidFill>
                  <a:srgbClr val="2B4A5E"/>
                </a:solidFill>
                <a:latin typeface="Georgia"/>
                <a:ea typeface="Georgia"/>
                <a:cs typeface="Georgia"/>
                <a:sym typeface="Georgi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//w</a:t>
            </a:r>
            <a:r>
              <a:rPr b="0" i="1" lang="en-US" sz="1600" u="sng" cap="none" strike="noStrike">
                <a:solidFill>
                  <a:srgbClr val="2B4A5E"/>
                </a:solidFill>
                <a:latin typeface="Georgia"/>
                <a:ea typeface="Georgia"/>
                <a:cs typeface="Georgia"/>
                <a:sym typeface="Georgia"/>
              </a:rPr>
              <a:t>ww</a:t>
            </a:r>
            <a:r>
              <a:rPr b="0" i="1" lang="en-US" sz="1600" u="sng" cap="none" strike="noStrike">
                <a:solidFill>
                  <a:srgbClr val="2B4A5E"/>
                </a:solidFill>
                <a:latin typeface="Georgia"/>
                <a:ea typeface="Georgia"/>
                <a:cs typeface="Georgia"/>
                <a:sym typeface="Georgi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.python.org/doc/versions/</a:t>
            </a:r>
            <a:endParaRPr b="0" i="0" sz="16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1079816" y="4136410"/>
            <a:ext cx="6248400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-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Đơn giản, dễ học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-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Miễn phí, mã nguồn mở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-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Đa nền tảng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-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Khả năng mở rộng cao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-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Hệ sinh thái,thư viện và cộng đồng lớn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-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Hướng đối tượng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/>
        </p:nvSpPr>
        <p:spPr>
          <a:xfrm>
            <a:off x="1037675" y="6342008"/>
            <a:ext cx="7868285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https://darly.solutions/the-most-popular-programming-languages-in-2021/</a:t>
            </a:r>
            <a:endParaRPr b="0" i="0" sz="16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307" y="1272105"/>
            <a:ext cx="6670601" cy="499135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>
            <p:ph type="title"/>
          </p:nvPr>
        </p:nvSpPr>
        <p:spPr>
          <a:xfrm>
            <a:off x="335165" y="434989"/>
            <a:ext cx="8096884" cy="51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1. Vì sao học lập trình Python?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5"/>
          <p:cNvGrpSpPr/>
          <p:nvPr/>
        </p:nvGrpSpPr>
        <p:grpSpPr>
          <a:xfrm>
            <a:off x="533400" y="1209192"/>
            <a:ext cx="264918" cy="264795"/>
            <a:chOff x="533400" y="1209192"/>
            <a:chExt cx="264918" cy="264795"/>
          </a:xfrm>
        </p:grpSpPr>
        <p:sp>
          <p:nvSpPr>
            <p:cNvPr id="126" name="Google Shape;126;p5"/>
            <p:cNvSpPr/>
            <p:nvPr/>
          </p:nvSpPr>
          <p:spPr>
            <a:xfrm>
              <a:off x="533400" y="1209192"/>
              <a:ext cx="132715" cy="264795"/>
            </a:xfrm>
            <a:custGeom>
              <a:rect b="b" l="l" r="r" t="t"/>
              <a:pathLst>
                <a:path extrusionOk="0" h="264794" w="132715">
                  <a:moveTo>
                    <a:pt x="0" y="0"/>
                  </a:moveTo>
                  <a:lnTo>
                    <a:pt x="66101" y="0"/>
                  </a:lnTo>
                  <a:lnTo>
                    <a:pt x="132203" y="132203"/>
                  </a:lnTo>
                  <a:lnTo>
                    <a:pt x="66101" y="264405"/>
                  </a:lnTo>
                  <a:lnTo>
                    <a:pt x="0" y="264405"/>
                  </a:lnTo>
                  <a:lnTo>
                    <a:pt x="66101" y="132203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2240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665603" y="1209192"/>
              <a:ext cx="132715" cy="264795"/>
            </a:xfrm>
            <a:custGeom>
              <a:rect b="b" l="l" r="r" t="t"/>
              <a:pathLst>
                <a:path extrusionOk="0" h="264794" w="132715">
                  <a:moveTo>
                    <a:pt x="0" y="0"/>
                  </a:moveTo>
                  <a:lnTo>
                    <a:pt x="66101" y="0"/>
                  </a:lnTo>
                  <a:lnTo>
                    <a:pt x="132203" y="132203"/>
                  </a:lnTo>
                  <a:lnTo>
                    <a:pt x="66101" y="264405"/>
                  </a:lnTo>
                  <a:lnTo>
                    <a:pt x="0" y="264405"/>
                  </a:lnTo>
                  <a:lnTo>
                    <a:pt x="66101" y="132203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2240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5"/>
          <p:cNvSpPr txBox="1"/>
          <p:nvPr/>
        </p:nvSpPr>
        <p:spPr>
          <a:xfrm>
            <a:off x="876531" y="1139444"/>
            <a:ext cx="215773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26064"/>
                </a:solidFill>
                <a:latin typeface="Arial"/>
                <a:ea typeface="Arial"/>
                <a:cs typeface="Arial"/>
                <a:sym typeface="Arial"/>
              </a:rPr>
              <a:t>Cài đặt Python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 txBox="1"/>
          <p:nvPr>
            <p:ph type="title"/>
          </p:nvPr>
        </p:nvSpPr>
        <p:spPr>
          <a:xfrm>
            <a:off x="307339" y="381000"/>
            <a:ext cx="8700135" cy="997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2. Tải và cài đặt môi trường lập trình Python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" name="Google Shape;130;p5"/>
          <p:cNvGrpSpPr/>
          <p:nvPr/>
        </p:nvGrpSpPr>
        <p:grpSpPr>
          <a:xfrm>
            <a:off x="603030" y="1600200"/>
            <a:ext cx="8436067" cy="5183914"/>
            <a:chOff x="603030" y="1600200"/>
            <a:chExt cx="8436067" cy="5183914"/>
          </a:xfrm>
        </p:grpSpPr>
        <p:sp>
          <p:nvSpPr>
            <p:cNvPr id="131" name="Google Shape;131;p5"/>
            <p:cNvSpPr/>
            <p:nvPr/>
          </p:nvSpPr>
          <p:spPr>
            <a:xfrm>
              <a:off x="631018" y="1600200"/>
              <a:ext cx="8376704" cy="3555479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603030" y="5105402"/>
              <a:ext cx="8436067" cy="167871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p5"/>
          <p:cNvSpPr txBox="1"/>
          <p:nvPr/>
        </p:nvSpPr>
        <p:spPr>
          <a:xfrm>
            <a:off x="3736340" y="1163828"/>
            <a:ext cx="527113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sng" cap="none" strike="noStrike">
                <a:solidFill>
                  <a:srgbClr val="326064"/>
                </a:solidFill>
                <a:latin typeface="Georgia"/>
                <a:ea typeface="Georgia"/>
                <a:cs typeface="Georgia"/>
                <a:sym typeface="Georgia"/>
              </a:rPr>
              <a:t>https:</a:t>
            </a:r>
            <a:r>
              <a:rPr b="0" i="1" lang="en-US" sz="2400" u="sng" cap="none" strike="noStrike">
                <a:solidFill>
                  <a:srgbClr val="326064"/>
                </a:solidFill>
                <a:latin typeface="Georgia"/>
                <a:ea typeface="Georgia"/>
                <a:cs typeface="Georgia"/>
                <a:sym typeface="Georgi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//w</a:t>
            </a:r>
            <a:r>
              <a:rPr b="0" i="1" lang="en-US" sz="2400" u="sng" cap="none" strike="noStrike">
                <a:solidFill>
                  <a:srgbClr val="326064"/>
                </a:solidFill>
                <a:latin typeface="Georgia"/>
                <a:ea typeface="Georgia"/>
                <a:cs typeface="Georgia"/>
                <a:sym typeface="Georgia"/>
              </a:rPr>
              <a:t>ww</a:t>
            </a:r>
            <a:r>
              <a:rPr b="0" i="1" lang="en-US" sz="2400" u="sng" cap="none" strike="noStrike">
                <a:solidFill>
                  <a:srgbClr val="326064"/>
                </a:solidFill>
                <a:latin typeface="Georgia"/>
                <a:ea typeface="Georgia"/>
                <a:cs typeface="Georgia"/>
                <a:sym typeface="Georgi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.python.org/downloads/</a:t>
            </a:r>
            <a:endParaRPr b="0" i="0" sz="2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 txBox="1"/>
          <p:nvPr/>
        </p:nvSpPr>
        <p:spPr>
          <a:xfrm>
            <a:off x="78739" y="33019"/>
            <a:ext cx="825055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NO PAIN NO GAIN	</a:t>
            </a: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Giới thiệu lập trình với Python</a:t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876531" y="1011427"/>
            <a:ext cx="3642360" cy="3611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0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26064"/>
                </a:solidFill>
                <a:latin typeface="Arial"/>
                <a:ea typeface="Arial"/>
                <a:cs typeface="Arial"/>
                <a:sym typeface="Arial"/>
              </a:rPr>
              <a:t>Công cụ lập trình Python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535" lvl="0" marL="355600" marR="0" rtl="0" algn="l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Notepad, Terminal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535" lvl="0" marL="355600" marR="0" rtl="0" algn="l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IDLE (Python 3.5)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535" lvl="0" marL="355600" marR="0" rtl="0" algn="l">
              <a:lnSpc>
                <a:spcPct val="100000"/>
              </a:lnSpc>
              <a:spcBef>
                <a:spcPts val="122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PyCharm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535" lvl="0" marL="355600" marR="0" rtl="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Jupyter Notebook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535" lvl="0" marL="355600" marR="0" rtl="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065" marR="0" rtl="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6"/>
          <p:cNvSpPr txBox="1"/>
          <p:nvPr>
            <p:ph type="title"/>
          </p:nvPr>
        </p:nvSpPr>
        <p:spPr>
          <a:xfrm>
            <a:off x="307339" y="381000"/>
            <a:ext cx="8700135" cy="997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2. Tải và cài đặt môi trường lập trình Python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/>
          <p:nvPr/>
        </p:nvSpPr>
        <p:spPr>
          <a:xfrm>
            <a:off x="78739" y="33019"/>
            <a:ext cx="825055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NO PAIN NO GAIN	</a:t>
            </a: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Giới thiệu lập trình với Python</a:t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6" name="Google Shape;146;p7"/>
          <p:cNvSpPr txBox="1"/>
          <p:nvPr/>
        </p:nvSpPr>
        <p:spPr>
          <a:xfrm>
            <a:off x="876531" y="1011427"/>
            <a:ext cx="3642360" cy="1013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0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26064"/>
                </a:solidFill>
                <a:latin typeface="Arial"/>
                <a:ea typeface="Arial"/>
                <a:cs typeface="Arial"/>
                <a:sym typeface="Arial"/>
              </a:rPr>
              <a:t>Công cụ lập trình Python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535" lvl="0" marL="355600" marR="0" rtl="0" algn="l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Terminal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7" name="Google Shape;147;p7"/>
          <p:cNvGraphicFramePr/>
          <p:nvPr/>
        </p:nvGraphicFramePr>
        <p:xfrm>
          <a:off x="981075" y="20700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{0FB95E8E-71C8-4F0B-8B46-0726A9E476DD}</a:tableStyleId>
              </a:tblPr>
              <a:tblGrid>
                <a:gridCol w="2362200"/>
                <a:gridCol w="5421000"/>
              </a:tblGrid>
              <a:tr h="1663725">
                <a:tc gridSpan="2">
                  <a:txBody>
                    <a:bodyPr/>
                    <a:lstStyle/>
                    <a:p>
                      <a:pPr indent="0" lvl="0" marL="61594" marR="1569720" rtl="0" algn="l">
                        <a:lnSpc>
                          <a:spcPct val="10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2F2F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Macmalls-MacBook-Pro:~ macmall$ python3  Python 3.9.1 (v3.9.1:1e5d33e9b9, Dec	7 2020,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61594" marR="0" rtl="0" algn="l">
                        <a:lnSpc>
                          <a:spcPct val="1161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2F2F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12:10:52)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5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2F2F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[Clang 6.0 (clang-600.0.57)] on darwin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61594" marR="615315" rtl="0" algn="l">
                        <a:lnSpc>
                          <a:spcPct val="117222"/>
                        </a:lnSpc>
                        <a:spcBef>
                          <a:spcPts val="13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2F2F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Type "help", "copyright", "credits" or "license" for  more information.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26675" marB="0" marR="0" marL="0">
                    <a:solidFill>
                      <a:srgbClr val="0D0D0D"/>
                    </a:solidFill>
                  </a:tcPr>
                </a:tc>
                <a:tc hMerge="1"/>
              </a:tr>
              <a:tr h="1676400">
                <a:tc>
                  <a:txBody>
                    <a:bodyPr/>
                    <a:lstStyle/>
                    <a:p>
                      <a:pPr indent="0" lvl="0" marL="61594" marR="0" rtl="0" algn="l">
                        <a:lnSpc>
                          <a:spcPct val="1180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2F2F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&gt;&gt;&gt; a = 6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61594" marR="0" rtl="0" algn="l">
                        <a:lnSpc>
                          <a:spcPct val="1180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2F2F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&gt;&gt;&gt; b = 8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61594" marR="0" rtl="0" algn="l">
                        <a:lnSpc>
                          <a:spcPct val="100000"/>
                        </a:lnSpc>
                        <a:spcBef>
                          <a:spcPts val="5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2F2F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&gt;&gt;&gt; sum = a + b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61594" marR="381635" rtl="0" algn="l">
                        <a:lnSpc>
                          <a:spcPct val="117222"/>
                        </a:lnSpc>
                        <a:spcBef>
                          <a:spcPts val="13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2F2F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&gt;&gt;&gt; print(sum)  14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61594" marR="0" rtl="0" algn="l">
                        <a:lnSpc>
                          <a:spcPct val="11777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2F2F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&gt;&gt;&gt;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20950" marB="0" marR="0" marL="0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0D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0D0D0D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0D0D0D"/>
                    </a:solidFill>
                  </a:tcPr>
                </a:tc>
                <a:tc vMerge="1"/>
              </a:tr>
            </a:tbl>
          </a:graphicData>
        </a:graphic>
      </p:graphicFrame>
      <p:sp>
        <p:nvSpPr>
          <p:cNvPr id="148" name="Google Shape;148;p7"/>
          <p:cNvSpPr txBox="1"/>
          <p:nvPr>
            <p:ph type="title"/>
          </p:nvPr>
        </p:nvSpPr>
        <p:spPr>
          <a:xfrm>
            <a:off x="307339" y="381000"/>
            <a:ext cx="8700135" cy="997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2. Tải và cài đặt môi trường lập trình Python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 txBox="1"/>
          <p:nvPr/>
        </p:nvSpPr>
        <p:spPr>
          <a:xfrm>
            <a:off x="2438400" y="914400"/>
            <a:ext cx="6286269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26064"/>
                </a:solidFill>
                <a:latin typeface="Arial"/>
                <a:ea typeface="Arial"/>
                <a:cs typeface="Arial"/>
                <a:sym typeface="Arial"/>
              </a:rPr>
              <a:t>https://colab.research.google.com/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" name="Google Shape;154;p8"/>
          <p:cNvGrpSpPr/>
          <p:nvPr/>
        </p:nvGrpSpPr>
        <p:grpSpPr>
          <a:xfrm>
            <a:off x="2228062" y="4150547"/>
            <a:ext cx="356873" cy="160658"/>
            <a:chOff x="2228062" y="4150547"/>
            <a:chExt cx="356873" cy="160658"/>
          </a:xfrm>
        </p:grpSpPr>
        <p:sp>
          <p:nvSpPr>
            <p:cNvPr id="155" name="Google Shape;155;p8"/>
            <p:cNvSpPr/>
            <p:nvPr/>
          </p:nvSpPr>
          <p:spPr>
            <a:xfrm>
              <a:off x="2228062" y="4150550"/>
              <a:ext cx="356870" cy="160655"/>
            </a:xfrm>
            <a:custGeom>
              <a:rect b="b" l="l" r="r" t="t"/>
              <a:pathLst>
                <a:path extrusionOk="0" h="160654" w="356869">
                  <a:moveTo>
                    <a:pt x="92075" y="0"/>
                  </a:moveTo>
                  <a:lnTo>
                    <a:pt x="0" y="68135"/>
                  </a:lnTo>
                  <a:lnTo>
                    <a:pt x="68135" y="160210"/>
                  </a:lnTo>
                  <a:lnTo>
                    <a:pt x="74117" y="120154"/>
                  </a:lnTo>
                  <a:lnTo>
                    <a:pt x="344779" y="160604"/>
                  </a:lnTo>
                  <a:lnTo>
                    <a:pt x="356755" y="80505"/>
                  </a:lnTo>
                  <a:lnTo>
                    <a:pt x="86093" y="40055"/>
                  </a:lnTo>
                  <a:lnTo>
                    <a:pt x="920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2228065" y="4150547"/>
              <a:ext cx="356870" cy="160655"/>
            </a:xfrm>
            <a:custGeom>
              <a:rect b="b" l="l" r="r" t="t"/>
              <a:pathLst>
                <a:path extrusionOk="0" h="160654" w="356869">
                  <a:moveTo>
                    <a:pt x="0" y="68132"/>
                  </a:moveTo>
                  <a:lnTo>
                    <a:pt x="92077" y="0"/>
                  </a:lnTo>
                  <a:lnTo>
                    <a:pt x="86091" y="40052"/>
                  </a:lnTo>
                  <a:lnTo>
                    <a:pt x="356749" y="80506"/>
                  </a:lnTo>
                  <a:lnTo>
                    <a:pt x="344776" y="160611"/>
                  </a:lnTo>
                  <a:lnTo>
                    <a:pt x="74118" y="120158"/>
                  </a:lnTo>
                  <a:lnTo>
                    <a:pt x="68132" y="160210"/>
                  </a:lnTo>
                  <a:lnTo>
                    <a:pt x="0" y="68132"/>
                  </a:lnTo>
                  <a:close/>
                </a:path>
              </a:pathLst>
            </a:custGeom>
            <a:noFill/>
            <a:ln cap="flat" cmpd="sng" w="190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" name="Google Shape;157;p8"/>
          <p:cNvSpPr txBox="1"/>
          <p:nvPr/>
        </p:nvSpPr>
        <p:spPr>
          <a:xfrm>
            <a:off x="307339" y="381000"/>
            <a:ext cx="8700135" cy="1502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i="0" lang="en-US" sz="3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Google Colab</a:t>
            </a:r>
            <a:endParaRPr b="1" i="0" sz="3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b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725" y="914400"/>
            <a:ext cx="1806097" cy="5897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8"/>
          <p:cNvPicPr preferRelativeResize="0"/>
          <p:nvPr/>
        </p:nvPicPr>
        <p:blipFill rotWithShape="1">
          <a:blip r:embed="rId4">
            <a:alphaModFix/>
          </a:blip>
          <a:srcRect b="0" l="0" r="27275" t="0"/>
          <a:stretch/>
        </p:blipFill>
        <p:spPr>
          <a:xfrm>
            <a:off x="2228059" y="1392777"/>
            <a:ext cx="5608654" cy="3177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/>
          <p:nvPr/>
        </p:nvSpPr>
        <p:spPr>
          <a:xfrm>
            <a:off x="1539176" y="2244956"/>
            <a:ext cx="6781800" cy="343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32606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26064"/>
                </a:solidFill>
                <a:latin typeface="Arial"/>
                <a:ea typeface="Arial"/>
                <a:cs typeface="Arial"/>
                <a:sym typeface="Arial"/>
              </a:rPr>
              <a:t>Một số link thường dùng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32606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32606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32606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https://www.python.org/downloads/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https://www.anaconda.com/download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https://colab.research.google.com/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5" name="Google Shape;165;p9"/>
          <p:cNvGrpSpPr/>
          <p:nvPr/>
        </p:nvGrpSpPr>
        <p:grpSpPr>
          <a:xfrm>
            <a:off x="2228062" y="4150547"/>
            <a:ext cx="356873" cy="160658"/>
            <a:chOff x="2228062" y="4150547"/>
            <a:chExt cx="356873" cy="160658"/>
          </a:xfrm>
        </p:grpSpPr>
        <p:sp>
          <p:nvSpPr>
            <p:cNvPr id="166" name="Google Shape;166;p9"/>
            <p:cNvSpPr/>
            <p:nvPr/>
          </p:nvSpPr>
          <p:spPr>
            <a:xfrm>
              <a:off x="2228062" y="4150550"/>
              <a:ext cx="356870" cy="160655"/>
            </a:xfrm>
            <a:custGeom>
              <a:rect b="b" l="l" r="r" t="t"/>
              <a:pathLst>
                <a:path extrusionOk="0" h="160654" w="356869">
                  <a:moveTo>
                    <a:pt x="92075" y="0"/>
                  </a:moveTo>
                  <a:lnTo>
                    <a:pt x="0" y="68135"/>
                  </a:lnTo>
                  <a:lnTo>
                    <a:pt x="68135" y="160210"/>
                  </a:lnTo>
                  <a:lnTo>
                    <a:pt x="74117" y="120154"/>
                  </a:lnTo>
                  <a:lnTo>
                    <a:pt x="344779" y="160604"/>
                  </a:lnTo>
                  <a:lnTo>
                    <a:pt x="356755" y="80505"/>
                  </a:lnTo>
                  <a:lnTo>
                    <a:pt x="86093" y="40055"/>
                  </a:lnTo>
                  <a:lnTo>
                    <a:pt x="920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9"/>
            <p:cNvSpPr/>
            <p:nvPr/>
          </p:nvSpPr>
          <p:spPr>
            <a:xfrm>
              <a:off x="2228065" y="4150547"/>
              <a:ext cx="356870" cy="160655"/>
            </a:xfrm>
            <a:custGeom>
              <a:rect b="b" l="l" r="r" t="t"/>
              <a:pathLst>
                <a:path extrusionOk="0" h="160654" w="356869">
                  <a:moveTo>
                    <a:pt x="0" y="68132"/>
                  </a:moveTo>
                  <a:lnTo>
                    <a:pt x="92077" y="0"/>
                  </a:lnTo>
                  <a:lnTo>
                    <a:pt x="86091" y="40052"/>
                  </a:lnTo>
                  <a:lnTo>
                    <a:pt x="356749" y="80506"/>
                  </a:lnTo>
                  <a:lnTo>
                    <a:pt x="344776" y="160611"/>
                  </a:lnTo>
                  <a:lnTo>
                    <a:pt x="74118" y="120158"/>
                  </a:lnTo>
                  <a:lnTo>
                    <a:pt x="68132" y="160210"/>
                  </a:lnTo>
                  <a:lnTo>
                    <a:pt x="0" y="68132"/>
                  </a:lnTo>
                  <a:close/>
                </a:path>
              </a:pathLst>
            </a:custGeom>
            <a:noFill/>
            <a:ln cap="flat" cmpd="sng" w="190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9"/>
          <p:cNvSpPr txBox="1"/>
          <p:nvPr/>
        </p:nvSpPr>
        <p:spPr>
          <a:xfrm>
            <a:off x="307339" y="381000"/>
            <a:ext cx="8700135" cy="505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Tải và cài đặt môi trường lập trình Python</a:t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3863438" y="1524000"/>
            <a:ext cx="189891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sng" cap="none" strike="noStrike">
                <a:solidFill>
                  <a:srgbClr val="326064"/>
                </a:solidFill>
                <a:latin typeface="Arial"/>
                <a:ea typeface="Arial"/>
                <a:cs typeface="Arial"/>
                <a:sym typeface="Arial"/>
              </a:rPr>
              <a:t>THỰC HÀNH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 txBox="1"/>
          <p:nvPr/>
        </p:nvSpPr>
        <p:spPr>
          <a:xfrm>
            <a:off x="78739" y="33019"/>
            <a:ext cx="825055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NO PAIN NO GAIN	</a:t>
            </a: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Giới thiệu lập trình với Python</a:t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5" name="Google Shape;175;p10"/>
          <p:cNvSpPr txBox="1"/>
          <p:nvPr>
            <p:ph type="title"/>
          </p:nvPr>
        </p:nvSpPr>
        <p:spPr>
          <a:xfrm>
            <a:off x="228853" y="457433"/>
            <a:ext cx="8836407" cy="752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3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3. Các kiểu dữ liệu cơ bản và khai báo biến</a:t>
            </a:r>
            <a:endParaRPr sz="4000"/>
          </a:p>
        </p:txBody>
      </p:sp>
      <p:sp>
        <p:nvSpPr>
          <p:cNvPr id="176" name="Google Shape;176;p10"/>
          <p:cNvSpPr txBox="1"/>
          <p:nvPr/>
        </p:nvSpPr>
        <p:spPr>
          <a:xfrm>
            <a:off x="1477374" y="1546585"/>
            <a:ext cx="6612516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Kiểu dữ liệu cơ bản</a:t>
            </a: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endParaRPr b="0" i="0" sz="1800" u="none" cap="none" strike="noStrike">
              <a:solidFill>
                <a:srgbClr val="242424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Số nguyên (int): 		Ví dụ: x =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Số thực (float): 		Ví dụ: y = 10.5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Chuỗi (str):			Ví dụ: name = "Python"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Danh sách (list): 		Ví dụ: numbers = [1, 2, 3, 4, 5]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Từ điển (dict): 		Ví dụ: student = {"name": "John", "age": 20}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Tuple: 				Ví dụ: coordinates = (10, 20)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Set: 				Ví dụ: unique_numbers = {1, 2, 3, 4, 5}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Khai báo biến: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=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= 10.5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= "Python"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numbers = [1, 2, 3, 4, 5]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 = {"name": "John", "age": 20}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coordinates = (10, 20)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unique_numbers = {1, 2, 3, 4, 5}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 txBox="1"/>
          <p:nvPr/>
        </p:nvSpPr>
        <p:spPr>
          <a:xfrm>
            <a:off x="78739" y="33019"/>
            <a:ext cx="825055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NO PAIN NO GAIN	</a:t>
            </a: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Giới thiệu lập trình với Python</a:t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2" name="Google Shape;182;p11"/>
          <p:cNvSpPr txBox="1"/>
          <p:nvPr>
            <p:ph type="title"/>
          </p:nvPr>
        </p:nvSpPr>
        <p:spPr>
          <a:xfrm>
            <a:off x="228854" y="457434"/>
            <a:ext cx="8455660" cy="752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3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4. Cách Truy Xuất Phần Tử</a:t>
            </a:r>
            <a:endParaRPr/>
          </a:p>
        </p:txBody>
      </p:sp>
      <p:sp>
        <p:nvSpPr>
          <p:cNvPr id="183" name="Google Shape;183;p11"/>
          <p:cNvSpPr txBox="1"/>
          <p:nvPr/>
        </p:nvSpPr>
        <p:spPr>
          <a:xfrm>
            <a:off x="228854" y="1579536"/>
            <a:ext cx="9105313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Truy xuất phần tử trong danh sách (List)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Truy xuất bằng chỉ số: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numbers = [10, 20, 30, 40, 50]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first_element = numbers[0]  # Phần tử đầu tiên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last_element = numbers[-1]  # Phần tử cuối cùng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print(first_element)  # Output: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print(last_element)   # Output: 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Truy xuất bằng đoạn cắt (slicing):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sub_list = numbers[1:4]  # Từ phần tử thứ 2 đến phần tử thứ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print(sub_list)  # Output: [20, 30, 40]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Truy xuất phần tử trong từ điển (Dictionary)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Truy xuất bằng khóa (key):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student = {"name": "John", "age": 20, "grade": "A"}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name = student["name"]  # Truy xuất giá trị của khóa "name"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 = student.get("age")  # Truy xuất giá trị của khóa "age" bằng phương thức get()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print(name)  # Output: John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print(age)   # Output: 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"/>
          <p:cNvSpPr txBox="1"/>
          <p:nvPr/>
        </p:nvSpPr>
        <p:spPr>
          <a:xfrm>
            <a:off x="78739" y="33019"/>
            <a:ext cx="825055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NO PAIN NO GAIN	</a:t>
            </a: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Giới thiệu lập trình với Python</a:t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9" name="Google Shape;189;p12"/>
          <p:cNvSpPr txBox="1"/>
          <p:nvPr>
            <p:ph type="title"/>
          </p:nvPr>
        </p:nvSpPr>
        <p:spPr>
          <a:xfrm>
            <a:off x="228854" y="457434"/>
            <a:ext cx="8455660" cy="752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3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4. Cách Truy Xuất Phần Tử</a:t>
            </a:r>
            <a:endParaRPr/>
          </a:p>
        </p:txBody>
      </p:sp>
      <p:sp>
        <p:nvSpPr>
          <p:cNvPr id="190" name="Google Shape;190;p12"/>
          <p:cNvSpPr txBox="1"/>
          <p:nvPr/>
        </p:nvSpPr>
        <p:spPr>
          <a:xfrm>
            <a:off x="228854" y="1579536"/>
            <a:ext cx="8177239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Truy xuất phần tử trong tuple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Truy xuất bằng chỉ số: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coordinates = (10, 20, 30)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 = coordinates[0]  # Phần tử đầu tiên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 = coordinates[1]  # Phần tử thứ hai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print(x)  # Output: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print(y)  # Output: 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Truy xuất phần tử trong 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Truy xuất bằng vòng lặp: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unique_numbers = {1, 2, 3, 4, 5}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</a:t>
            </a: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number in unique_numbers: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print(number)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# Output: 1 2 3 4 5 (thứ tự có thể thay đổi do set không có thứ tự cố định)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"/>
          <p:cNvSpPr txBox="1"/>
          <p:nvPr/>
        </p:nvSpPr>
        <p:spPr>
          <a:xfrm>
            <a:off x="78739" y="33019"/>
            <a:ext cx="825055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NO PAIN NO GAIN	</a:t>
            </a: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Giới thiệu lập trình với Python</a:t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6" name="Google Shape;196;p13"/>
          <p:cNvSpPr txBox="1"/>
          <p:nvPr>
            <p:ph type="title"/>
          </p:nvPr>
        </p:nvSpPr>
        <p:spPr>
          <a:xfrm>
            <a:off x="228854" y="426656"/>
            <a:ext cx="8455660" cy="8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3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5.</a:t>
            </a:r>
            <a:r>
              <a:rPr b="1" i="0" lang="en-US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i="0" lang="en-US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Các toán tử trong Python</a:t>
            </a:r>
            <a:endParaRPr/>
          </a:p>
        </p:txBody>
      </p:sp>
      <p:sp>
        <p:nvSpPr>
          <p:cNvPr id="197" name="Google Shape;197;p13"/>
          <p:cNvSpPr txBox="1"/>
          <p:nvPr/>
        </p:nvSpPr>
        <p:spPr>
          <a:xfrm>
            <a:off x="1477374" y="1546585"/>
            <a:ext cx="3541354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Toán tử số học: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Cộng (+): a +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Trừ (-): a -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Nhân (*): a *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Chia (/): a /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Chia lấy dư (%): a %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Lũy thừa ()**: a **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Chia lấy phần nguyên (//): a // b</a:t>
            </a:r>
            <a:endParaRPr b="0" i="0" sz="1800" u="none" cap="none" strike="noStrike">
              <a:solidFill>
                <a:srgbClr val="242424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42424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Toán tử so sánh: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Bằng (==): a ==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Khác (!=): a !=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Lớn hơn (&gt;): a &gt;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Nhỏ hơn (&lt;): a &lt;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Lớn hơn hoặc bằng (&gt;=): a &gt;=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Nhỏ hơn hoặc bằng (&lt;=): a &lt;=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3"/>
          <p:cNvSpPr txBox="1"/>
          <p:nvPr/>
        </p:nvSpPr>
        <p:spPr>
          <a:xfrm>
            <a:off x="5257800" y="1525990"/>
            <a:ext cx="202811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Toán tử logic: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Và (and): a and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Hoặc (or): a or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Không (not): not 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ython Built-In Functions" id="203" name="Google Shape;2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1143000"/>
            <a:ext cx="8153400" cy="40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4"/>
          <p:cNvSpPr/>
          <p:nvPr/>
        </p:nvSpPr>
        <p:spPr>
          <a:xfrm>
            <a:off x="495300" y="457200"/>
            <a:ext cx="43428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24456"/>
                </a:solidFill>
                <a:latin typeface="Arial"/>
                <a:ea typeface="Arial"/>
                <a:cs typeface="Arial"/>
                <a:sym typeface="Arial"/>
              </a:rPr>
              <a:t>6. Các hàm đã dựng sẵn trong Python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"/>
          <p:cNvSpPr txBox="1"/>
          <p:nvPr/>
        </p:nvSpPr>
        <p:spPr>
          <a:xfrm>
            <a:off x="838200" y="2761555"/>
            <a:ext cx="6781800" cy="936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326064"/>
                </a:solidFill>
                <a:latin typeface="Arial"/>
                <a:ea typeface="Arial"/>
                <a:cs typeface="Arial"/>
                <a:sym typeface="Arial"/>
              </a:rPr>
              <a:t>QA</a:t>
            </a:r>
            <a:endParaRPr b="1" i="0" sz="6000" u="sng" cap="none" strike="noStrike">
              <a:solidFill>
                <a:srgbClr val="3260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0" name="Google Shape;210;p15"/>
          <p:cNvGrpSpPr/>
          <p:nvPr/>
        </p:nvGrpSpPr>
        <p:grpSpPr>
          <a:xfrm>
            <a:off x="2228062" y="4150547"/>
            <a:ext cx="356873" cy="160658"/>
            <a:chOff x="2228062" y="4150547"/>
            <a:chExt cx="356873" cy="160658"/>
          </a:xfrm>
        </p:grpSpPr>
        <p:sp>
          <p:nvSpPr>
            <p:cNvPr id="211" name="Google Shape;211;p15"/>
            <p:cNvSpPr/>
            <p:nvPr/>
          </p:nvSpPr>
          <p:spPr>
            <a:xfrm>
              <a:off x="2228062" y="4150550"/>
              <a:ext cx="356870" cy="160655"/>
            </a:xfrm>
            <a:custGeom>
              <a:rect b="b" l="l" r="r" t="t"/>
              <a:pathLst>
                <a:path extrusionOk="0" h="160654" w="356869">
                  <a:moveTo>
                    <a:pt x="92075" y="0"/>
                  </a:moveTo>
                  <a:lnTo>
                    <a:pt x="0" y="68135"/>
                  </a:lnTo>
                  <a:lnTo>
                    <a:pt x="68135" y="160210"/>
                  </a:lnTo>
                  <a:lnTo>
                    <a:pt x="74117" y="120154"/>
                  </a:lnTo>
                  <a:lnTo>
                    <a:pt x="344779" y="160604"/>
                  </a:lnTo>
                  <a:lnTo>
                    <a:pt x="356755" y="80505"/>
                  </a:lnTo>
                  <a:lnTo>
                    <a:pt x="86093" y="40055"/>
                  </a:lnTo>
                  <a:lnTo>
                    <a:pt x="920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15"/>
            <p:cNvSpPr/>
            <p:nvPr/>
          </p:nvSpPr>
          <p:spPr>
            <a:xfrm>
              <a:off x="2228065" y="4150547"/>
              <a:ext cx="356870" cy="160655"/>
            </a:xfrm>
            <a:custGeom>
              <a:rect b="b" l="l" r="r" t="t"/>
              <a:pathLst>
                <a:path extrusionOk="0" h="160654" w="356869">
                  <a:moveTo>
                    <a:pt x="0" y="68132"/>
                  </a:moveTo>
                  <a:lnTo>
                    <a:pt x="92077" y="0"/>
                  </a:lnTo>
                  <a:lnTo>
                    <a:pt x="86091" y="40052"/>
                  </a:lnTo>
                  <a:lnTo>
                    <a:pt x="356749" y="80506"/>
                  </a:lnTo>
                  <a:lnTo>
                    <a:pt x="344776" y="160611"/>
                  </a:lnTo>
                  <a:lnTo>
                    <a:pt x="74118" y="120158"/>
                  </a:lnTo>
                  <a:lnTo>
                    <a:pt x="68132" y="160210"/>
                  </a:lnTo>
                  <a:lnTo>
                    <a:pt x="0" y="68132"/>
                  </a:lnTo>
                  <a:close/>
                </a:path>
              </a:pathLst>
            </a:custGeom>
            <a:noFill/>
            <a:ln cap="flat" cmpd="sng" w="190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3" name="Google Shape;213;p15"/>
          <p:cNvSpPr/>
          <p:nvPr/>
        </p:nvSpPr>
        <p:spPr>
          <a:xfrm>
            <a:off x="3200400" y="685800"/>
            <a:ext cx="1863395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sng" cap="none" strike="noStrike">
                <a:solidFill>
                  <a:srgbClr val="326064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2021-08-14T11:24:18Z</dcterms:created>
  <dc:creator>Tuan Nguyen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2021-01-24T00:00:00Z</vt:filetime>
  </property>
  <property fmtid="{D5CDD505-2E9C-101B-9397-08002B2CF9AE}" pid="3" name="Creator">
    <vt:lpwstr>PowerPoint</vt:lpwstr>
  </property>
  <property fmtid="{D5CDD505-2E9C-101B-9397-08002B2CF9AE}" pid="4" name="LastSaved">
    <vt:filetime>2021-08-14T00:00:00Z</vt:filetime>
  </property>
</Properties>
</file>