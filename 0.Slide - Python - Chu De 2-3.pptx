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1" r:id="rId1"/>
  </p:sldMasterIdLst>
  <p:notesMasterIdLst>
    <p:notesMasterId r:id="rId23"/>
  </p:notesMasterIdLst>
  <p:sldIdLst>
    <p:sldId id="256" r:id="rId2"/>
    <p:sldId id="257" r:id="rId3"/>
    <p:sldId id="619" r:id="rId4"/>
    <p:sldId id="620" r:id="rId5"/>
    <p:sldId id="621" r:id="rId6"/>
    <p:sldId id="622" r:id="rId7"/>
    <p:sldId id="624" r:id="rId8"/>
    <p:sldId id="625" r:id="rId9"/>
    <p:sldId id="623" r:id="rId10"/>
    <p:sldId id="617" r:id="rId11"/>
    <p:sldId id="626" r:id="rId12"/>
    <p:sldId id="627" r:id="rId13"/>
    <p:sldId id="636" r:id="rId14"/>
    <p:sldId id="632" r:id="rId15"/>
    <p:sldId id="413" r:id="rId16"/>
    <p:sldId id="631" r:id="rId17"/>
    <p:sldId id="633" r:id="rId18"/>
    <p:sldId id="634" r:id="rId19"/>
    <p:sldId id="635" r:id="rId20"/>
    <p:sldId id="345" r:id="rId21"/>
    <p:sldId id="409" r:id="rId22"/>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422"/>
    <p:restoredTop sz="94643"/>
  </p:normalViewPr>
  <p:slideViewPr>
    <p:cSldViewPr>
      <p:cViewPr varScale="1">
        <p:scale>
          <a:sx n="93" d="100"/>
          <a:sy n="93" d="100"/>
        </p:scale>
        <p:origin x="581"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69934E9-EF4C-456F-914A-BD83063507A7}" type="datetimeFigureOut">
              <a:rPr lang="en-US" smtClean="0"/>
              <a:t>11/19/2024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2CEA0CA-FB40-4D2B-B1EA-CE83B16C8081}" type="slidenum">
              <a:rPr lang="en-US" smtClean="0"/>
              <a:t>‹#›</a:t>
            </a:fld>
            <a:endParaRPr lang="en-US"/>
          </a:p>
        </p:txBody>
      </p:sp>
    </p:spTree>
    <p:extLst>
      <p:ext uri="{BB962C8B-B14F-4D97-AF65-F5344CB8AC3E}">
        <p14:creationId xmlns:p14="http://schemas.microsoft.com/office/powerpoint/2010/main" val="2572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13364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6F15528-21DE-4FAA-801E-634DDDAF4B2B}" type="slidenum">
              <a:rPr lang="en-VN" smtClean="0"/>
              <a:t>‹#›</a:t>
            </a:fld>
            <a:endParaRPr lang="en-VN"/>
          </a:p>
        </p:txBody>
      </p:sp>
    </p:spTree>
    <p:extLst>
      <p:ext uri="{BB962C8B-B14F-4D97-AF65-F5344CB8AC3E}">
        <p14:creationId xmlns:p14="http://schemas.microsoft.com/office/powerpoint/2010/main" val="529319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4732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1198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002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B6F15528-21DE-4FAA-801E-634DDDAF4B2B}" type="slidenum">
              <a:rPr lang="en-VN" smtClean="0"/>
              <a:t>‹#›</a:t>
            </a:fld>
            <a:endParaRPr lang="en-VN"/>
          </a:p>
        </p:txBody>
      </p:sp>
    </p:spTree>
    <p:extLst>
      <p:ext uri="{BB962C8B-B14F-4D97-AF65-F5344CB8AC3E}">
        <p14:creationId xmlns:p14="http://schemas.microsoft.com/office/powerpoint/2010/main" val="227074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99396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07731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32060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7099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7935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80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9043098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663" r:id="rId12"/>
    <p:sldLayoutId id="2147483763" r:id="rId13"/>
  </p:sldLayoutIdLst>
  <p:hf hdr="0" ftr="0" dt="0"/>
  <p:txStyles>
    <p:titleStyle>
      <a:lvl1pPr algn="l" defTabSz="914400" rtl="0" eaLnBrk="1" latinLnBrk="0" hangingPunct="1">
        <a:lnSpc>
          <a:spcPct val="90000"/>
        </a:lnSpc>
        <a:spcBef>
          <a:spcPct val="0"/>
        </a:spcBef>
        <a:buNone/>
        <a:defRPr sz="4000" kern="1200">
          <a:solidFill>
            <a:schemeClr val="tx1"/>
          </a:solidFill>
          <a:latin typeface="Arial (Body)"/>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Body)"/>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Body)"/>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Body)"/>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Body)"/>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Body)"/>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txBox="1">
            <a:spLocks noGrp="1"/>
          </p:cNvSpPr>
          <p:nvPr>
            <p:ph type="title"/>
          </p:nvPr>
        </p:nvSpPr>
        <p:spPr>
          <a:xfrm>
            <a:off x="762000" y="1705904"/>
            <a:ext cx="7467600" cy="1757725"/>
          </a:xfrm>
          <a:prstGeom prst="rect">
            <a:avLst/>
          </a:prstGeom>
        </p:spPr>
        <p:txBody>
          <a:bodyPr vert="horz" wrap="square" lIns="0" tIns="15875" rIns="0" bIns="0" rtlCol="0" anchor="ctr">
            <a:spAutoFit/>
          </a:bodyPr>
          <a:lstStyle/>
          <a:p>
            <a:pPr marL="385445" marR="5080" indent="-373380" algn="ctr">
              <a:lnSpc>
                <a:spcPct val="150000"/>
              </a:lnSpc>
              <a:spcBef>
                <a:spcPts val="125"/>
              </a:spcBef>
            </a:pPr>
            <a:r>
              <a:rPr lang="vi-VN" sz="3600" dirty="0"/>
              <a:t>CHỦ ĐỀ 2</a:t>
            </a:r>
            <a:br>
              <a:rPr lang="vi-VN" dirty="0"/>
            </a:br>
            <a:r>
              <a:rPr lang="vi-VN" dirty="0"/>
              <a:t>LẬP TRÌNH VỚI PYTHON</a:t>
            </a:r>
            <a:endParaRPr lang="vi-VN" sz="4000" b="1" dirty="0">
              <a:solidFill>
                <a:schemeClr val="tx1"/>
              </a:solidFill>
            </a:endParaRPr>
          </a:p>
        </p:txBody>
      </p:sp>
      <p:sp>
        <p:nvSpPr>
          <p:cNvPr id="2" name="Slide Number Placeholder 1">
            <a:extLst>
              <a:ext uri="{FF2B5EF4-FFF2-40B4-BE49-F238E27FC236}">
                <a16:creationId xmlns:a16="http://schemas.microsoft.com/office/drawing/2014/main" id="{2FC2246C-53C2-43E6-BA6A-D30EB65211A8}"/>
              </a:ext>
            </a:extLst>
          </p:cNvPr>
          <p:cNvSpPr>
            <a:spLocks noGrp="1"/>
          </p:cNvSpPr>
          <p:nvPr>
            <p:ph type="sldNum" sz="quarter" idx="12"/>
          </p:nvPr>
        </p:nvSpPr>
        <p:spPr/>
        <p:txBody>
          <a:bodyPr/>
          <a:lstStyle/>
          <a:p>
            <a:fld id="{B6F15528-21DE-4FAA-801E-634DDDAF4B2B}" type="slidenum">
              <a:rPr lang="en-VN" smtClean="0"/>
              <a:t>1</a:t>
            </a:fld>
            <a:endParaRPr lang="en-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219200" y="304800"/>
            <a:ext cx="6705600" cy="6089809"/>
          </a:xfrm>
          <a:prstGeom prst="rect">
            <a:avLst/>
          </a:prstGeom>
        </p:spPr>
        <p:txBody>
          <a:bodyPr vert="horz" wrap="square" lIns="0" tIns="247650" rIns="0" bIns="0" rtlCol="0">
            <a:spAutoFit/>
          </a:bodyPr>
          <a:lstStyle/>
          <a:p>
            <a:pPr marL="12700" algn="ctr">
              <a:lnSpc>
                <a:spcPct val="100000"/>
              </a:lnSpc>
              <a:spcBef>
                <a:spcPts val="1950"/>
              </a:spcBef>
            </a:pPr>
            <a:r>
              <a:rPr sz="2800" b="1" spc="-5" dirty="0">
                <a:solidFill>
                  <a:srgbClr val="424456"/>
                </a:solidFill>
                <a:latin typeface="Arial (Body)"/>
                <a:cs typeface="Arial" panose="020B0604020202020204" pitchFamily="34" charset="0"/>
              </a:rPr>
              <a:t>NỘI</a:t>
            </a:r>
            <a:r>
              <a:rPr sz="2800" b="1" spc="-10" dirty="0">
                <a:solidFill>
                  <a:srgbClr val="424456"/>
                </a:solidFill>
                <a:latin typeface="Arial (Body)"/>
                <a:cs typeface="Arial" panose="020B0604020202020204" pitchFamily="34" charset="0"/>
              </a:rPr>
              <a:t> </a:t>
            </a:r>
            <a:r>
              <a:rPr sz="2800" b="1" spc="-5" dirty="0">
                <a:solidFill>
                  <a:srgbClr val="424456"/>
                </a:solidFill>
                <a:latin typeface="Arial (Body)"/>
                <a:cs typeface="Arial" panose="020B0604020202020204" pitchFamily="34" charset="0"/>
              </a:rPr>
              <a:t>DUNG</a:t>
            </a:r>
            <a:endParaRPr lang="en-US" sz="2800" b="1" spc="-5" dirty="0">
              <a:solidFill>
                <a:srgbClr val="424456"/>
              </a:solidFill>
              <a:latin typeface="Arial (Body)"/>
              <a:cs typeface="Arial" panose="020B0604020202020204" pitchFamily="34" charset="0"/>
            </a:endParaRPr>
          </a:p>
          <a:p>
            <a:pPr marL="12700" algn="ctr">
              <a:lnSpc>
                <a:spcPct val="100000"/>
              </a:lnSpc>
              <a:spcBef>
                <a:spcPts val="1950"/>
              </a:spcBef>
            </a:pPr>
            <a:endParaRPr sz="2800" dirty="0">
              <a:latin typeface="Arial (Body)"/>
              <a:cs typeface="Arial" panose="020B0604020202020204" pitchFamily="34" charset="0"/>
            </a:endParaRPr>
          </a:p>
          <a:p>
            <a:pPr marL="800100" lvl="1" indent="-342900">
              <a:lnSpc>
                <a:spcPct val="150000"/>
              </a:lnSpc>
              <a:buFont typeface="+mj-lt"/>
              <a:buAutoNum type="arabicPeriod"/>
            </a:pPr>
            <a:r>
              <a:rPr lang="en-VN" sz="2000" dirty="0">
                <a:latin typeface="Arial (Body)"/>
              </a:rPr>
              <a:t>Biểu thức Boolean</a:t>
            </a:r>
          </a:p>
          <a:p>
            <a:pPr marL="800100" lvl="1" indent="-342900">
              <a:lnSpc>
                <a:spcPct val="150000"/>
              </a:lnSpc>
              <a:buFont typeface="+mj-lt"/>
              <a:buAutoNum type="arabicPeriod"/>
            </a:pPr>
            <a:r>
              <a:rPr lang="en-VN" sz="2000" dirty="0">
                <a:latin typeface="Arial (Body)"/>
              </a:rPr>
              <a:t>Các cấu trúc điều kiện</a:t>
            </a:r>
          </a:p>
          <a:p>
            <a:pPr marL="800100" lvl="1" indent="-342900">
              <a:lnSpc>
                <a:spcPct val="150000"/>
              </a:lnSpc>
              <a:buFont typeface="+mj-lt"/>
              <a:buAutoNum type="arabicPeriod"/>
            </a:pPr>
            <a:r>
              <a:rPr lang="en-VN" sz="2000" dirty="0">
                <a:latin typeface="Arial (Body)"/>
              </a:rPr>
              <a:t>Câu lệnh pass</a:t>
            </a:r>
          </a:p>
          <a:p>
            <a:pPr marL="800100" lvl="1" indent="-342900">
              <a:lnSpc>
                <a:spcPct val="150000"/>
              </a:lnSpc>
              <a:buFont typeface="+mj-lt"/>
              <a:buAutoNum type="arabicPeriod"/>
            </a:pPr>
            <a:r>
              <a:rPr lang="en-VN" sz="2000" dirty="0">
                <a:latin typeface="Arial (Body)"/>
              </a:rPr>
              <a:t>So sánh số thực và sử dụng if/else như phép gán</a:t>
            </a:r>
          </a:p>
          <a:p>
            <a:pPr marL="800100" lvl="1" indent="-342900">
              <a:lnSpc>
                <a:spcPct val="150000"/>
              </a:lnSpc>
              <a:buFont typeface="+mj-lt"/>
              <a:buAutoNum type="arabicPeriod"/>
            </a:pPr>
            <a:r>
              <a:rPr lang="en-VN" sz="2000" dirty="0">
                <a:latin typeface="Arial (Body)"/>
              </a:rPr>
              <a:t>Các cấu trúc lặp Vòng while</a:t>
            </a:r>
          </a:p>
          <a:p>
            <a:pPr marL="800100" lvl="1" indent="-342900">
              <a:lnSpc>
                <a:spcPct val="150000"/>
              </a:lnSpc>
              <a:buFont typeface="+mj-lt"/>
              <a:buAutoNum type="arabicPeriod"/>
            </a:pPr>
            <a:r>
              <a:rPr lang="en-VN" sz="2000" dirty="0">
                <a:latin typeface="Arial (Body)"/>
              </a:rPr>
              <a:t>Các cấu trúc lặp Vòng for</a:t>
            </a:r>
          </a:p>
          <a:p>
            <a:pPr marL="800100" lvl="1" indent="-342900">
              <a:lnSpc>
                <a:spcPct val="150000"/>
              </a:lnSpc>
              <a:buFont typeface="+mj-lt"/>
              <a:buAutoNum type="arabicPeriod"/>
            </a:pPr>
            <a:r>
              <a:rPr lang="en-VN" sz="2000" dirty="0">
                <a:latin typeface="Arial (Body)"/>
              </a:rPr>
              <a:t>Các câu lệnh break – continue</a:t>
            </a:r>
          </a:p>
          <a:p>
            <a:pPr marL="800100" lvl="1" indent="-342900">
              <a:lnSpc>
                <a:spcPct val="150000"/>
              </a:lnSpc>
              <a:buFont typeface="+mj-lt"/>
              <a:buAutoNum type="arabicPeriod"/>
            </a:pPr>
            <a:r>
              <a:rPr lang="en-VN" sz="2000" dirty="0">
                <a:latin typeface="Arial (Body)"/>
              </a:rPr>
              <a:t>Cấu trúc while/else và for/else</a:t>
            </a:r>
          </a:p>
          <a:p>
            <a:pPr marL="800100" lvl="1" indent="-342900">
              <a:lnSpc>
                <a:spcPct val="150000"/>
              </a:lnSpc>
              <a:buFont typeface="+mj-lt"/>
              <a:buAutoNum type="arabicPeriod"/>
            </a:pPr>
            <a:r>
              <a:rPr lang="en-VN" sz="2000" dirty="0">
                <a:latin typeface="Arial (Body)"/>
              </a:rPr>
              <a:t>Vòng lặp lồng nhau</a:t>
            </a:r>
          </a:p>
          <a:p>
            <a:pPr marL="800100" lvl="1" indent="-342900">
              <a:lnSpc>
                <a:spcPct val="150000"/>
              </a:lnSpc>
              <a:buFont typeface="+mj-lt"/>
              <a:buAutoNum type="arabicPeriod"/>
            </a:pPr>
            <a:r>
              <a:rPr lang="vi-VN" sz="2000" dirty="0">
                <a:latin typeface="Arial (Body)"/>
              </a:rPr>
              <a:t>Thực hành dự án lập trình với Python</a:t>
            </a:r>
            <a:r>
              <a:rPr lang="en-VN" sz="2800" dirty="0">
                <a:latin typeface="Arial (Body)"/>
              </a:rPr>
              <a:t> </a:t>
            </a:r>
          </a:p>
        </p:txBody>
      </p:sp>
      <p:sp>
        <p:nvSpPr>
          <p:cNvPr id="2" name="Slide Number Placeholder 1">
            <a:extLst>
              <a:ext uri="{FF2B5EF4-FFF2-40B4-BE49-F238E27FC236}">
                <a16:creationId xmlns:a16="http://schemas.microsoft.com/office/drawing/2014/main" id="{12648661-9C12-4710-8896-4DF942BEDC64}"/>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FC88C-B3AA-E9E6-D2BD-D0591B2B4F01}"/>
              </a:ext>
            </a:extLst>
          </p:cNvPr>
          <p:cNvSpPr>
            <a:spLocks noGrp="1"/>
          </p:cNvSpPr>
          <p:nvPr>
            <p:ph type="title"/>
          </p:nvPr>
        </p:nvSpPr>
        <p:spPr/>
        <p:txBody>
          <a:bodyPr>
            <a:normAutofit/>
          </a:bodyPr>
          <a:lstStyle/>
          <a:p>
            <a:r>
              <a:rPr lang="en-US" sz="3600" b="1" dirty="0"/>
              <a:t>1. </a:t>
            </a:r>
            <a:r>
              <a:rPr lang="en-US" sz="3600" b="1" dirty="0" err="1"/>
              <a:t>Biểu</a:t>
            </a:r>
            <a:r>
              <a:rPr lang="en-US" sz="3600" b="1" dirty="0"/>
              <a:t> </a:t>
            </a:r>
            <a:r>
              <a:rPr lang="en-US" sz="3600" b="1" dirty="0" err="1"/>
              <a:t>thức</a:t>
            </a:r>
            <a:r>
              <a:rPr lang="en-US" sz="3600" b="1" dirty="0"/>
              <a:t> Boolean trong Python</a:t>
            </a:r>
          </a:p>
        </p:txBody>
      </p:sp>
      <p:sp>
        <p:nvSpPr>
          <p:cNvPr id="3" name="Content Placeholder 2">
            <a:extLst>
              <a:ext uri="{FF2B5EF4-FFF2-40B4-BE49-F238E27FC236}">
                <a16:creationId xmlns:a16="http://schemas.microsoft.com/office/drawing/2014/main" id="{E4CFF815-298B-1FE1-5F92-BC6495B4C158}"/>
              </a:ext>
            </a:extLst>
          </p:cNvPr>
          <p:cNvSpPr>
            <a:spLocks noGrp="1"/>
          </p:cNvSpPr>
          <p:nvPr>
            <p:ph idx="1"/>
          </p:nvPr>
        </p:nvSpPr>
        <p:spPr/>
        <p:txBody>
          <a:bodyPr/>
          <a:lstStyle/>
          <a:p>
            <a:r>
              <a:rPr lang="vi-VN" b="1" i="0" dirty="0">
                <a:solidFill>
                  <a:srgbClr val="111111"/>
                </a:solidFill>
                <a:effectLst/>
                <a:latin typeface="-apple-system"/>
              </a:rPr>
              <a:t>Khái niệm:</a:t>
            </a:r>
            <a:r>
              <a:rPr lang="vi-VN" b="0" i="0" dirty="0">
                <a:solidFill>
                  <a:srgbClr val="111111"/>
                </a:solidFill>
                <a:effectLst/>
                <a:latin typeface="-apple-system"/>
              </a:rPr>
              <a:t> Biểu thức Boolean là các biểu thức trả về giá trị True hoặc False, thường được sử dụng trong các điều kiện kiểm tra.</a:t>
            </a:r>
            <a:endParaRPr lang="en-US" dirty="0"/>
          </a:p>
        </p:txBody>
      </p:sp>
      <p:sp>
        <p:nvSpPr>
          <p:cNvPr id="4" name="Slide Number Placeholder 3">
            <a:extLst>
              <a:ext uri="{FF2B5EF4-FFF2-40B4-BE49-F238E27FC236}">
                <a16:creationId xmlns:a16="http://schemas.microsoft.com/office/drawing/2014/main" id="{E38C662A-20C6-CF4C-EC79-474ADCF82301}"/>
              </a:ext>
            </a:extLst>
          </p:cNvPr>
          <p:cNvSpPr>
            <a:spLocks noGrp="1"/>
          </p:cNvSpPr>
          <p:nvPr>
            <p:ph type="sldNum" sz="quarter" idx="12"/>
          </p:nvPr>
        </p:nvSpPr>
        <p:spPr/>
        <p:txBody>
          <a:bodyPr/>
          <a:lstStyle/>
          <a:p>
            <a:fld id="{B6F15528-21DE-4FAA-801E-634DDDAF4B2B}" type="slidenum">
              <a:rPr lang="en-VN" smtClean="0"/>
              <a:t>3</a:t>
            </a:fld>
            <a:endParaRPr lang="en-VN"/>
          </a:p>
        </p:txBody>
      </p:sp>
      <p:pic>
        <p:nvPicPr>
          <p:cNvPr id="6" name="Picture 5">
            <a:extLst>
              <a:ext uri="{FF2B5EF4-FFF2-40B4-BE49-F238E27FC236}">
                <a16:creationId xmlns:a16="http://schemas.microsoft.com/office/drawing/2014/main" id="{EB0F8814-1928-34E4-22B5-A5EBADDAEF6E}"/>
              </a:ext>
            </a:extLst>
          </p:cNvPr>
          <p:cNvPicPr>
            <a:picLocks noChangeAspect="1"/>
          </p:cNvPicPr>
          <p:nvPr/>
        </p:nvPicPr>
        <p:blipFill>
          <a:blip r:embed="rId2"/>
          <a:stretch>
            <a:fillRect/>
          </a:stretch>
        </p:blipFill>
        <p:spPr>
          <a:xfrm>
            <a:off x="1905000" y="3153173"/>
            <a:ext cx="5128704" cy="3314987"/>
          </a:xfrm>
          <a:prstGeom prst="rect">
            <a:avLst/>
          </a:prstGeom>
        </p:spPr>
      </p:pic>
    </p:spTree>
    <p:extLst>
      <p:ext uri="{BB962C8B-B14F-4D97-AF65-F5344CB8AC3E}">
        <p14:creationId xmlns:p14="http://schemas.microsoft.com/office/powerpoint/2010/main" val="213653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B276-CAC5-246A-8EBA-CB72073B678D}"/>
              </a:ext>
            </a:extLst>
          </p:cNvPr>
          <p:cNvSpPr>
            <a:spLocks noGrp="1"/>
          </p:cNvSpPr>
          <p:nvPr>
            <p:ph type="title"/>
          </p:nvPr>
        </p:nvSpPr>
        <p:spPr/>
        <p:txBody>
          <a:bodyPr/>
          <a:lstStyle/>
          <a:p>
            <a:r>
              <a:rPr lang="en-US" dirty="0"/>
              <a:t>2: </a:t>
            </a:r>
            <a:r>
              <a:rPr lang="en-US" dirty="0" err="1"/>
              <a:t>Các</a:t>
            </a:r>
            <a:r>
              <a:rPr lang="en-US" dirty="0"/>
              <a:t> </a:t>
            </a:r>
            <a:r>
              <a:rPr lang="en-US" dirty="0" err="1"/>
              <a:t>cấu</a:t>
            </a:r>
            <a:r>
              <a:rPr lang="en-US" dirty="0"/>
              <a:t> </a:t>
            </a:r>
            <a:r>
              <a:rPr lang="en-US" dirty="0" err="1"/>
              <a:t>trúc</a:t>
            </a:r>
            <a:r>
              <a:rPr lang="en-US" dirty="0"/>
              <a:t> </a:t>
            </a:r>
            <a:r>
              <a:rPr lang="en-US" dirty="0" err="1"/>
              <a:t>điều</a:t>
            </a:r>
            <a:r>
              <a:rPr lang="en-US" dirty="0"/>
              <a:t> </a:t>
            </a:r>
            <a:r>
              <a:rPr lang="en-US" dirty="0" err="1"/>
              <a:t>kiện</a:t>
            </a:r>
            <a:endParaRPr lang="en-US" dirty="0"/>
          </a:p>
        </p:txBody>
      </p:sp>
      <p:sp>
        <p:nvSpPr>
          <p:cNvPr id="3" name="Content Placeholder 2">
            <a:extLst>
              <a:ext uri="{FF2B5EF4-FFF2-40B4-BE49-F238E27FC236}">
                <a16:creationId xmlns:a16="http://schemas.microsoft.com/office/drawing/2014/main" id="{FAE4C4F5-EE07-2545-BB63-16E9AC2D2A74}"/>
              </a:ext>
            </a:extLst>
          </p:cNvPr>
          <p:cNvSpPr>
            <a:spLocks noGrp="1"/>
          </p:cNvSpPr>
          <p:nvPr>
            <p:ph idx="1"/>
          </p:nvPr>
        </p:nvSpPr>
        <p:spPr>
          <a:xfrm>
            <a:off x="628650" y="1524000"/>
            <a:ext cx="8210550" cy="4351338"/>
          </a:xfrm>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Cấu</a:t>
            </a:r>
            <a:r>
              <a:rPr lang="en-US" b="0" i="0" dirty="0">
                <a:effectLst/>
                <a:latin typeface="system-ui"/>
              </a:rPr>
              <a:t> </a:t>
            </a:r>
            <a:r>
              <a:rPr lang="en-US" b="0" i="0" dirty="0" err="1">
                <a:effectLst/>
                <a:latin typeface="system-ui"/>
              </a:rPr>
              <a:t>trúc</a:t>
            </a:r>
            <a:r>
              <a:rPr lang="en-US" b="0" i="0" dirty="0">
                <a:effectLst/>
                <a:latin typeface="system-ui"/>
              </a:rPr>
              <a:t> </a:t>
            </a:r>
            <a:r>
              <a:rPr lang="en-US" b="0" i="0" dirty="0" err="1">
                <a:effectLst/>
                <a:latin typeface="system-ui"/>
              </a:rPr>
              <a:t>điều</a:t>
            </a:r>
            <a:r>
              <a:rPr lang="en-US" b="0" i="0" dirty="0">
                <a:effectLst/>
                <a:latin typeface="system-ui"/>
              </a:rPr>
              <a:t> </a:t>
            </a:r>
            <a:r>
              <a:rPr lang="en-US" b="0" i="0" dirty="0" err="1">
                <a:effectLst/>
                <a:latin typeface="system-ui"/>
              </a:rPr>
              <a:t>kiện</a:t>
            </a:r>
            <a:r>
              <a:rPr lang="en-US" b="0" i="0" dirty="0">
                <a:effectLst/>
                <a:latin typeface="system-ui"/>
              </a:rPr>
              <a:t> </a:t>
            </a:r>
            <a:r>
              <a:rPr lang="en-US" b="0" i="0" dirty="0" err="1">
                <a:effectLst/>
                <a:latin typeface="system-ui"/>
              </a:rPr>
              <a:t>cho</a:t>
            </a:r>
            <a:r>
              <a:rPr lang="en-US" b="0" i="0" dirty="0">
                <a:effectLst/>
                <a:latin typeface="system-ui"/>
              </a:rPr>
              <a:t> phép </a:t>
            </a:r>
            <a:r>
              <a:rPr lang="en-US" b="0" i="0" dirty="0" err="1">
                <a:effectLst/>
                <a:latin typeface="system-ui"/>
              </a:rPr>
              <a:t>thực</a:t>
            </a:r>
            <a:r>
              <a:rPr lang="en-US" b="0" i="0" dirty="0">
                <a:effectLst/>
                <a:latin typeface="system-ui"/>
              </a:rPr>
              <a:t> </a:t>
            </a:r>
            <a:r>
              <a:rPr lang="en-US" b="0" i="0" dirty="0" err="1">
                <a:effectLst/>
                <a:latin typeface="system-ui"/>
              </a:rPr>
              <a:t>hiện</a:t>
            </a:r>
            <a:r>
              <a:rPr lang="en-US" b="0" i="0" dirty="0">
                <a:effectLst/>
                <a:latin typeface="system-ui"/>
              </a:rPr>
              <a:t> </a:t>
            </a:r>
            <a:r>
              <a:rPr lang="en-US" b="0" i="0" dirty="0" err="1">
                <a:effectLst/>
                <a:latin typeface="system-ui"/>
              </a:rPr>
              <a:t>các</a:t>
            </a:r>
            <a:r>
              <a:rPr lang="en-US" b="0" i="0" dirty="0">
                <a:effectLst/>
                <a:latin typeface="system-ui"/>
              </a:rPr>
              <a:t> </a:t>
            </a:r>
            <a:r>
              <a:rPr lang="en-US" b="0" i="0" dirty="0" err="1">
                <a:effectLst/>
                <a:latin typeface="system-ui"/>
              </a:rPr>
              <a:t>hành</a:t>
            </a:r>
            <a:r>
              <a:rPr lang="en-US" b="0" i="0" dirty="0">
                <a:effectLst/>
                <a:latin typeface="system-ui"/>
              </a:rPr>
              <a:t> </a:t>
            </a:r>
            <a:r>
              <a:rPr lang="en-US" b="0" i="0" dirty="0" err="1">
                <a:effectLst/>
                <a:latin typeface="system-ui"/>
              </a:rPr>
              <a:t>động</a:t>
            </a:r>
            <a:r>
              <a:rPr lang="en-US" b="0" i="0" dirty="0">
                <a:effectLst/>
                <a:latin typeface="system-ui"/>
              </a:rPr>
              <a:t> </a:t>
            </a:r>
            <a:r>
              <a:rPr lang="en-US" b="0" i="0" dirty="0" err="1">
                <a:effectLst/>
                <a:latin typeface="system-ui"/>
              </a:rPr>
              <a:t>khác</a:t>
            </a:r>
            <a:r>
              <a:rPr lang="en-US" b="0" i="0" dirty="0">
                <a:effectLst/>
                <a:latin typeface="system-ui"/>
              </a:rPr>
              <a:t> </a:t>
            </a:r>
            <a:r>
              <a:rPr lang="en-US" b="0" i="0" dirty="0" err="1">
                <a:effectLst/>
                <a:latin typeface="system-ui"/>
              </a:rPr>
              <a:t>nhau</a:t>
            </a:r>
            <a:r>
              <a:rPr lang="en-US" b="0" i="0" dirty="0">
                <a:effectLst/>
                <a:latin typeface="system-ui"/>
              </a:rPr>
              <a:t> </a:t>
            </a:r>
            <a:r>
              <a:rPr lang="en-US" b="0" i="0" dirty="0" err="1">
                <a:effectLst/>
                <a:latin typeface="system-ui"/>
              </a:rPr>
              <a:t>dựa</a:t>
            </a:r>
            <a:r>
              <a:rPr lang="en-US" b="0" i="0" dirty="0">
                <a:effectLst/>
                <a:latin typeface="system-ui"/>
              </a:rPr>
              <a:t> </a:t>
            </a:r>
            <a:r>
              <a:rPr lang="en-US" b="0" i="0" dirty="0" err="1">
                <a:effectLst/>
                <a:latin typeface="system-ui"/>
              </a:rPr>
              <a:t>trên</a:t>
            </a:r>
            <a:r>
              <a:rPr lang="en-US" b="0" i="0" dirty="0">
                <a:effectLst/>
                <a:latin typeface="system-ui"/>
              </a:rPr>
              <a:t> </a:t>
            </a:r>
            <a:r>
              <a:rPr lang="en-US" b="0" i="0" dirty="0" err="1">
                <a:effectLst/>
                <a:latin typeface="system-ui"/>
              </a:rPr>
              <a:t>điều</a:t>
            </a:r>
            <a:r>
              <a:rPr lang="en-US" b="0" i="0" dirty="0">
                <a:effectLst/>
                <a:latin typeface="system-ui"/>
              </a:rPr>
              <a:t> </a:t>
            </a:r>
            <a:r>
              <a:rPr lang="en-US" b="0" i="0" dirty="0" err="1">
                <a:effectLst/>
                <a:latin typeface="system-ui"/>
              </a:rPr>
              <a:t>kiện</a:t>
            </a:r>
            <a:r>
              <a:rPr lang="en-US" b="0" i="0" dirty="0">
                <a:effectLst/>
                <a:latin typeface="system-ui"/>
              </a:rPr>
              <a:t> </a:t>
            </a:r>
            <a:r>
              <a:rPr lang="en-US" b="0" i="0" dirty="0" err="1">
                <a:effectLst/>
                <a:latin typeface="system-ui"/>
              </a:rPr>
              <a:t>cụ</a:t>
            </a:r>
            <a:r>
              <a:rPr lang="en-US" b="0" i="0" dirty="0">
                <a:effectLst/>
                <a:latin typeface="system-ui"/>
              </a:rPr>
              <a:t> </a:t>
            </a:r>
            <a:r>
              <a:rPr lang="en-US" b="0" i="0" dirty="0" err="1">
                <a:effectLst/>
                <a:latin typeface="system-ui"/>
              </a:rPr>
              <a:t>thể</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D1B9890B-6C0C-60B5-F44D-94F0BD9B6AED}"/>
              </a:ext>
            </a:extLst>
          </p:cNvPr>
          <p:cNvSpPr>
            <a:spLocks noGrp="1"/>
          </p:cNvSpPr>
          <p:nvPr>
            <p:ph type="sldNum" sz="quarter" idx="12"/>
          </p:nvPr>
        </p:nvSpPr>
        <p:spPr/>
        <p:txBody>
          <a:bodyPr/>
          <a:lstStyle/>
          <a:p>
            <a:fld id="{B6F15528-21DE-4FAA-801E-634DDDAF4B2B}" type="slidenum">
              <a:rPr lang="en-VN" smtClean="0"/>
              <a:t>4</a:t>
            </a:fld>
            <a:endParaRPr lang="en-VN"/>
          </a:p>
        </p:txBody>
      </p:sp>
      <p:pic>
        <p:nvPicPr>
          <p:cNvPr id="6" name="Picture 5">
            <a:extLst>
              <a:ext uri="{FF2B5EF4-FFF2-40B4-BE49-F238E27FC236}">
                <a16:creationId xmlns:a16="http://schemas.microsoft.com/office/drawing/2014/main" id="{325A8171-2AEC-3713-3000-6BE7E2ADC9A5}"/>
              </a:ext>
            </a:extLst>
          </p:cNvPr>
          <p:cNvPicPr>
            <a:picLocks noChangeAspect="1"/>
          </p:cNvPicPr>
          <p:nvPr/>
        </p:nvPicPr>
        <p:blipFill>
          <a:blip r:embed="rId2"/>
          <a:srcRect t="1934"/>
          <a:stretch/>
        </p:blipFill>
        <p:spPr>
          <a:xfrm>
            <a:off x="2286000" y="2590800"/>
            <a:ext cx="5044877" cy="4267200"/>
          </a:xfrm>
          <a:prstGeom prst="rect">
            <a:avLst/>
          </a:prstGeom>
        </p:spPr>
      </p:pic>
    </p:spTree>
    <p:extLst>
      <p:ext uri="{BB962C8B-B14F-4D97-AF65-F5344CB8AC3E}">
        <p14:creationId xmlns:p14="http://schemas.microsoft.com/office/powerpoint/2010/main" val="38289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EC45-B7E9-5E63-FDF3-148EFC02BB81}"/>
              </a:ext>
            </a:extLst>
          </p:cNvPr>
          <p:cNvSpPr>
            <a:spLocks noGrp="1"/>
          </p:cNvSpPr>
          <p:nvPr>
            <p:ph type="title"/>
          </p:nvPr>
        </p:nvSpPr>
        <p:spPr/>
        <p:txBody>
          <a:bodyPr/>
          <a:lstStyle/>
          <a:p>
            <a:r>
              <a:rPr lang="en-US" b="1" i="0" dirty="0">
                <a:effectLst/>
                <a:latin typeface="system-ui"/>
              </a:rPr>
              <a:t>3. </a:t>
            </a:r>
            <a:r>
              <a:rPr lang="en-US" b="1" i="0" dirty="0" err="1">
                <a:effectLst/>
                <a:latin typeface="system-ui"/>
              </a:rPr>
              <a:t>Câu</a:t>
            </a:r>
            <a:r>
              <a:rPr lang="en-US" b="1" i="0" dirty="0">
                <a:effectLst/>
                <a:latin typeface="system-ui"/>
              </a:rPr>
              <a:t> </a:t>
            </a:r>
            <a:r>
              <a:rPr lang="en-US" b="1" i="0" dirty="0" err="1">
                <a:effectLst/>
                <a:latin typeface="system-ui"/>
              </a:rPr>
              <a:t>lệnh</a:t>
            </a:r>
            <a:r>
              <a:rPr lang="en-US" b="1" i="0" dirty="0">
                <a:effectLst/>
                <a:latin typeface="system-ui"/>
              </a:rPr>
              <a:t> pass</a:t>
            </a:r>
            <a:endParaRPr lang="en-US" dirty="0"/>
          </a:p>
        </p:txBody>
      </p:sp>
      <p:sp>
        <p:nvSpPr>
          <p:cNvPr id="3" name="Content Placeholder 2">
            <a:extLst>
              <a:ext uri="{FF2B5EF4-FFF2-40B4-BE49-F238E27FC236}">
                <a16:creationId xmlns:a16="http://schemas.microsoft.com/office/drawing/2014/main" id="{977861E7-E1C7-86BC-B559-2EF69AB39904}"/>
              </a:ext>
            </a:extLst>
          </p:cNvPr>
          <p:cNvSpPr>
            <a:spLocks noGrp="1"/>
          </p:cNvSpPr>
          <p:nvPr>
            <p:ph idx="1"/>
          </p:nvPr>
        </p:nvSpPr>
        <p:spPr/>
        <p:txBody>
          <a:bodyPr/>
          <a:lstStyle/>
          <a:p>
            <a:r>
              <a:rPr lang="vi-VN" b="1" i="0" dirty="0">
                <a:effectLst/>
                <a:latin typeface="system-ui"/>
              </a:rPr>
              <a:t>Khái niệm:</a:t>
            </a:r>
            <a:r>
              <a:rPr lang="vi-VN" b="0" i="0" dirty="0">
                <a:effectLst/>
                <a:latin typeface="system-ui"/>
              </a:rPr>
              <a:t> Câu lệnh pass được sử dụng khi bạn cần một câu lệnh hợp lệ nhưng không muốn thực hiện bất kỳ hành động nào.</a:t>
            </a:r>
            <a:endParaRPr lang="en-US" dirty="0"/>
          </a:p>
        </p:txBody>
      </p:sp>
      <p:sp>
        <p:nvSpPr>
          <p:cNvPr id="4" name="Slide Number Placeholder 3">
            <a:extLst>
              <a:ext uri="{FF2B5EF4-FFF2-40B4-BE49-F238E27FC236}">
                <a16:creationId xmlns:a16="http://schemas.microsoft.com/office/drawing/2014/main" id="{15452722-ACBE-C388-DB60-42309CC8142F}"/>
              </a:ext>
            </a:extLst>
          </p:cNvPr>
          <p:cNvSpPr>
            <a:spLocks noGrp="1"/>
          </p:cNvSpPr>
          <p:nvPr>
            <p:ph type="sldNum" sz="quarter" idx="12"/>
          </p:nvPr>
        </p:nvSpPr>
        <p:spPr/>
        <p:txBody>
          <a:bodyPr/>
          <a:lstStyle/>
          <a:p>
            <a:fld id="{B6F15528-21DE-4FAA-801E-634DDDAF4B2B}" type="slidenum">
              <a:rPr lang="en-VN" smtClean="0"/>
              <a:t>5</a:t>
            </a:fld>
            <a:endParaRPr lang="en-VN"/>
          </a:p>
        </p:txBody>
      </p:sp>
      <p:pic>
        <p:nvPicPr>
          <p:cNvPr id="8" name="Picture 7">
            <a:extLst>
              <a:ext uri="{FF2B5EF4-FFF2-40B4-BE49-F238E27FC236}">
                <a16:creationId xmlns:a16="http://schemas.microsoft.com/office/drawing/2014/main" id="{185A4516-AC70-1AD0-B15C-65AD9124C464}"/>
              </a:ext>
            </a:extLst>
          </p:cNvPr>
          <p:cNvPicPr>
            <a:picLocks noChangeAspect="1"/>
          </p:cNvPicPr>
          <p:nvPr/>
        </p:nvPicPr>
        <p:blipFill>
          <a:blip r:embed="rId2"/>
          <a:stretch>
            <a:fillRect/>
          </a:stretch>
        </p:blipFill>
        <p:spPr>
          <a:xfrm>
            <a:off x="2895600" y="3258403"/>
            <a:ext cx="3635055" cy="3444538"/>
          </a:xfrm>
          <a:prstGeom prst="rect">
            <a:avLst/>
          </a:prstGeom>
        </p:spPr>
      </p:pic>
    </p:spTree>
    <p:extLst>
      <p:ext uri="{BB962C8B-B14F-4D97-AF65-F5344CB8AC3E}">
        <p14:creationId xmlns:p14="http://schemas.microsoft.com/office/powerpoint/2010/main" val="2575544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67F58-048A-09D7-A634-02B7DBDC0909}"/>
              </a:ext>
            </a:extLst>
          </p:cNvPr>
          <p:cNvSpPr>
            <a:spLocks noGrp="1"/>
          </p:cNvSpPr>
          <p:nvPr>
            <p:ph type="title"/>
          </p:nvPr>
        </p:nvSpPr>
        <p:spPr/>
        <p:txBody>
          <a:bodyPr/>
          <a:lstStyle/>
          <a:p>
            <a:r>
              <a:rPr lang="en-US" dirty="0"/>
              <a:t>4. </a:t>
            </a:r>
            <a:r>
              <a:rPr lang="vi-VN" dirty="0"/>
              <a:t>So sánh số thực và sử dụng if/else như phép gán</a:t>
            </a:r>
            <a:endParaRPr lang="en-US" dirty="0"/>
          </a:p>
        </p:txBody>
      </p:sp>
      <p:sp>
        <p:nvSpPr>
          <p:cNvPr id="3" name="Content Placeholder 2">
            <a:extLst>
              <a:ext uri="{FF2B5EF4-FFF2-40B4-BE49-F238E27FC236}">
                <a16:creationId xmlns:a16="http://schemas.microsoft.com/office/drawing/2014/main" id="{613C5112-C7A4-7CC9-8992-5AD11B325245}"/>
              </a:ext>
            </a:extLst>
          </p:cNvPr>
          <p:cNvSpPr>
            <a:spLocks noGrp="1"/>
          </p:cNvSpPr>
          <p:nvPr>
            <p:ph idx="1"/>
          </p:nvPr>
        </p:nvSpPr>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So </a:t>
            </a:r>
            <a:r>
              <a:rPr lang="en-US" b="0" i="0" dirty="0" err="1">
                <a:effectLst/>
                <a:latin typeface="system-ui"/>
              </a:rPr>
              <a:t>sánh</a:t>
            </a:r>
            <a:r>
              <a:rPr lang="en-US" b="0" i="0" dirty="0">
                <a:effectLst/>
                <a:latin typeface="system-ui"/>
              </a:rPr>
              <a:t> </a:t>
            </a:r>
            <a:r>
              <a:rPr lang="en-US" b="0" i="0" dirty="0" err="1">
                <a:effectLst/>
                <a:latin typeface="system-ui"/>
              </a:rPr>
              <a:t>số</a:t>
            </a:r>
            <a:r>
              <a:rPr lang="en-US" b="0" i="0" dirty="0">
                <a:effectLst/>
                <a:latin typeface="system-ui"/>
              </a:rPr>
              <a:t> </a:t>
            </a:r>
            <a:r>
              <a:rPr lang="en-US" b="0" i="0" dirty="0" err="1">
                <a:effectLst/>
                <a:latin typeface="system-ui"/>
              </a:rPr>
              <a:t>thực</a:t>
            </a:r>
            <a:r>
              <a:rPr lang="en-US" b="0" i="0" dirty="0">
                <a:effectLst/>
                <a:latin typeface="system-ui"/>
              </a:rPr>
              <a:t> </a:t>
            </a:r>
            <a:r>
              <a:rPr lang="en-US" b="0" i="0" dirty="0" err="1">
                <a:effectLst/>
                <a:latin typeface="system-ui"/>
              </a:rPr>
              <a:t>và</a:t>
            </a:r>
            <a:r>
              <a:rPr lang="en-US" b="0" i="0" dirty="0">
                <a:effectLst/>
                <a:latin typeface="system-ui"/>
              </a:rPr>
              <a:t> </a:t>
            </a:r>
            <a:r>
              <a:rPr lang="en-US" b="0" i="0" dirty="0" err="1">
                <a:effectLst/>
                <a:latin typeface="system-ui"/>
              </a:rPr>
              <a:t>sử</a:t>
            </a:r>
            <a:r>
              <a:rPr lang="en-US" b="0" i="0" dirty="0">
                <a:effectLst/>
                <a:latin typeface="system-ui"/>
              </a:rPr>
              <a:t> </a:t>
            </a:r>
            <a:r>
              <a:rPr lang="en-US" b="0" i="0" dirty="0" err="1">
                <a:effectLst/>
                <a:latin typeface="system-ui"/>
              </a:rPr>
              <a:t>dụng</a:t>
            </a:r>
            <a:r>
              <a:rPr lang="en-US" b="0" i="0" dirty="0">
                <a:effectLst/>
                <a:latin typeface="system-ui"/>
              </a:rPr>
              <a:t> if/else </a:t>
            </a:r>
            <a:r>
              <a:rPr lang="en-US" b="0" i="0" dirty="0" err="1">
                <a:effectLst/>
                <a:latin typeface="system-ui"/>
              </a:rPr>
              <a:t>để</a:t>
            </a:r>
            <a:r>
              <a:rPr lang="en-US" b="0" i="0" dirty="0">
                <a:effectLst/>
                <a:latin typeface="system-ui"/>
              </a:rPr>
              <a:t> </a:t>
            </a:r>
            <a:r>
              <a:rPr lang="en-US" b="0" i="0" dirty="0" err="1">
                <a:effectLst/>
                <a:latin typeface="system-ui"/>
              </a:rPr>
              <a:t>gán</a:t>
            </a:r>
            <a:r>
              <a:rPr lang="en-US" b="0" i="0" dirty="0">
                <a:effectLst/>
                <a:latin typeface="system-ui"/>
              </a:rPr>
              <a:t> </a:t>
            </a:r>
            <a:r>
              <a:rPr lang="en-US" b="0" i="0" dirty="0" err="1">
                <a:effectLst/>
                <a:latin typeface="system-ui"/>
              </a:rPr>
              <a:t>giá</a:t>
            </a:r>
            <a:r>
              <a:rPr lang="en-US" b="0" i="0" dirty="0">
                <a:effectLst/>
                <a:latin typeface="system-ui"/>
              </a:rPr>
              <a:t> </a:t>
            </a:r>
            <a:r>
              <a:rPr lang="en-US" b="0" i="0" dirty="0" err="1">
                <a:effectLst/>
                <a:latin typeface="system-ui"/>
              </a:rPr>
              <a:t>trị</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CE2DD51C-60FA-AA4A-EB3B-33473D4F7FE8}"/>
              </a:ext>
            </a:extLst>
          </p:cNvPr>
          <p:cNvSpPr>
            <a:spLocks noGrp="1"/>
          </p:cNvSpPr>
          <p:nvPr>
            <p:ph type="sldNum" sz="quarter" idx="12"/>
          </p:nvPr>
        </p:nvSpPr>
        <p:spPr/>
        <p:txBody>
          <a:bodyPr/>
          <a:lstStyle/>
          <a:p>
            <a:fld id="{B6F15528-21DE-4FAA-801E-634DDDAF4B2B}" type="slidenum">
              <a:rPr lang="en-VN" smtClean="0"/>
              <a:t>6</a:t>
            </a:fld>
            <a:endParaRPr lang="en-VN"/>
          </a:p>
        </p:txBody>
      </p:sp>
      <p:pic>
        <p:nvPicPr>
          <p:cNvPr id="6" name="Picture 5">
            <a:extLst>
              <a:ext uri="{FF2B5EF4-FFF2-40B4-BE49-F238E27FC236}">
                <a16:creationId xmlns:a16="http://schemas.microsoft.com/office/drawing/2014/main" id="{F57AD509-5D73-469B-C20A-494E675E57EE}"/>
              </a:ext>
            </a:extLst>
          </p:cNvPr>
          <p:cNvPicPr>
            <a:picLocks noChangeAspect="1"/>
          </p:cNvPicPr>
          <p:nvPr/>
        </p:nvPicPr>
        <p:blipFill>
          <a:blip r:embed="rId2"/>
          <a:stretch>
            <a:fillRect/>
          </a:stretch>
        </p:blipFill>
        <p:spPr>
          <a:xfrm>
            <a:off x="2057400" y="3380181"/>
            <a:ext cx="4930567" cy="2796782"/>
          </a:xfrm>
          <a:prstGeom prst="rect">
            <a:avLst/>
          </a:prstGeom>
        </p:spPr>
      </p:pic>
    </p:spTree>
    <p:extLst>
      <p:ext uri="{BB962C8B-B14F-4D97-AF65-F5344CB8AC3E}">
        <p14:creationId xmlns:p14="http://schemas.microsoft.com/office/powerpoint/2010/main" val="2990276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8383-BFF1-8184-FEEF-95A221B21AC3}"/>
              </a:ext>
            </a:extLst>
          </p:cNvPr>
          <p:cNvSpPr>
            <a:spLocks noGrp="1"/>
          </p:cNvSpPr>
          <p:nvPr>
            <p:ph type="title"/>
          </p:nvPr>
        </p:nvSpPr>
        <p:spPr/>
        <p:txBody>
          <a:bodyPr/>
          <a:lstStyle/>
          <a:p>
            <a:r>
              <a:rPr lang="en-US" dirty="0"/>
              <a:t>5. </a:t>
            </a:r>
            <a:r>
              <a:rPr lang="en-US" dirty="0" err="1"/>
              <a:t>Các</a:t>
            </a:r>
            <a:r>
              <a:rPr lang="en-US" dirty="0"/>
              <a:t> </a:t>
            </a:r>
            <a:r>
              <a:rPr lang="en-US" dirty="0" err="1"/>
              <a:t>cấu</a:t>
            </a:r>
            <a:r>
              <a:rPr lang="en-US" dirty="0"/>
              <a:t> </a:t>
            </a:r>
            <a:r>
              <a:rPr lang="en-US" dirty="0" err="1"/>
              <a:t>trúc</a:t>
            </a:r>
            <a:r>
              <a:rPr lang="en-US" dirty="0"/>
              <a:t> </a:t>
            </a:r>
            <a:r>
              <a:rPr lang="en-US" dirty="0" err="1"/>
              <a:t>lặp</a:t>
            </a:r>
            <a:r>
              <a:rPr lang="en-US" dirty="0"/>
              <a:t> </a:t>
            </a:r>
            <a:r>
              <a:rPr lang="en-US" dirty="0" err="1"/>
              <a:t>Vòng</a:t>
            </a:r>
            <a:r>
              <a:rPr lang="en-US" dirty="0"/>
              <a:t> while</a:t>
            </a:r>
          </a:p>
        </p:txBody>
      </p:sp>
      <p:sp>
        <p:nvSpPr>
          <p:cNvPr id="3" name="Content Placeholder 2">
            <a:extLst>
              <a:ext uri="{FF2B5EF4-FFF2-40B4-BE49-F238E27FC236}">
                <a16:creationId xmlns:a16="http://schemas.microsoft.com/office/drawing/2014/main" id="{5DADACAE-882F-4474-CE54-EE6426105C95}"/>
              </a:ext>
            </a:extLst>
          </p:cNvPr>
          <p:cNvSpPr>
            <a:spLocks noGrp="1"/>
          </p:cNvSpPr>
          <p:nvPr>
            <p:ph idx="1"/>
          </p:nvPr>
        </p:nvSpPr>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while </a:t>
            </a:r>
            <a:r>
              <a:rPr lang="en-US" b="0" i="0" dirty="0" err="1">
                <a:effectLst/>
                <a:latin typeface="system-ui"/>
              </a:rPr>
              <a:t>lặp</a:t>
            </a:r>
            <a:r>
              <a:rPr lang="en-US" b="0" i="0" dirty="0">
                <a:effectLst/>
                <a:latin typeface="system-ui"/>
              </a:rPr>
              <a:t> </a:t>
            </a:r>
            <a:r>
              <a:rPr lang="en-US" b="0" i="0" dirty="0" err="1">
                <a:effectLst/>
                <a:latin typeface="system-ui"/>
              </a:rPr>
              <a:t>lại</a:t>
            </a:r>
            <a:r>
              <a:rPr lang="en-US" b="0" i="0" dirty="0">
                <a:effectLst/>
                <a:latin typeface="system-ui"/>
              </a:rPr>
              <a:t> </a:t>
            </a:r>
            <a:r>
              <a:rPr lang="en-US" b="0" i="0" dirty="0" err="1">
                <a:effectLst/>
                <a:latin typeface="system-ui"/>
              </a:rPr>
              <a:t>một</a:t>
            </a:r>
            <a:r>
              <a:rPr lang="en-US" b="0" i="0" dirty="0">
                <a:effectLst/>
                <a:latin typeface="system-ui"/>
              </a:rPr>
              <a:t> </a:t>
            </a:r>
            <a:r>
              <a:rPr lang="en-US" b="0" i="0" dirty="0" err="1">
                <a:effectLst/>
                <a:latin typeface="system-ui"/>
              </a:rPr>
              <a:t>khối</a:t>
            </a:r>
            <a:r>
              <a:rPr lang="en-US" b="0" i="0" dirty="0">
                <a:effectLst/>
                <a:latin typeface="system-ui"/>
              </a:rPr>
              <a:t> </a:t>
            </a:r>
            <a:r>
              <a:rPr lang="en-US" b="0" i="0" dirty="0" err="1">
                <a:effectLst/>
                <a:latin typeface="system-ui"/>
              </a:rPr>
              <a:t>mã</a:t>
            </a:r>
            <a:r>
              <a:rPr lang="en-US" b="0" i="0" dirty="0">
                <a:effectLst/>
                <a:latin typeface="system-ui"/>
              </a:rPr>
              <a:t> </a:t>
            </a:r>
            <a:r>
              <a:rPr lang="en-US" b="0" i="0" dirty="0" err="1">
                <a:effectLst/>
                <a:latin typeface="system-ui"/>
              </a:rPr>
              <a:t>khi</a:t>
            </a:r>
            <a:r>
              <a:rPr lang="en-US" b="0" i="0" dirty="0">
                <a:effectLst/>
                <a:latin typeface="system-ui"/>
              </a:rPr>
              <a:t> </a:t>
            </a:r>
            <a:r>
              <a:rPr lang="en-US" b="0" i="0" dirty="0" err="1">
                <a:effectLst/>
                <a:latin typeface="system-ui"/>
              </a:rPr>
              <a:t>điều</a:t>
            </a:r>
            <a:r>
              <a:rPr lang="en-US" b="0" i="0" dirty="0">
                <a:effectLst/>
                <a:latin typeface="system-ui"/>
              </a:rPr>
              <a:t> </a:t>
            </a:r>
            <a:r>
              <a:rPr lang="en-US" b="0" i="0" dirty="0" err="1">
                <a:effectLst/>
                <a:latin typeface="system-ui"/>
              </a:rPr>
              <a:t>kiện</a:t>
            </a:r>
            <a:r>
              <a:rPr lang="en-US" b="0" i="0" dirty="0">
                <a:effectLst/>
                <a:latin typeface="system-ui"/>
              </a:rPr>
              <a:t> </a:t>
            </a:r>
            <a:r>
              <a:rPr lang="en-US" b="0" i="0" dirty="0" err="1">
                <a:effectLst/>
                <a:latin typeface="system-ui"/>
              </a:rPr>
              <a:t>còn</a:t>
            </a:r>
            <a:r>
              <a:rPr lang="en-US" b="0" i="0" dirty="0">
                <a:effectLst/>
                <a:latin typeface="system-ui"/>
              </a:rPr>
              <a:t> </a:t>
            </a:r>
            <a:r>
              <a:rPr lang="en-US" b="0" i="0" dirty="0" err="1">
                <a:effectLst/>
                <a:latin typeface="system-ui"/>
              </a:rPr>
              <a:t>đúng</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711C87E0-68C7-B46A-45DF-8FE1FF49B3C7}"/>
              </a:ext>
            </a:extLst>
          </p:cNvPr>
          <p:cNvSpPr>
            <a:spLocks noGrp="1"/>
          </p:cNvSpPr>
          <p:nvPr>
            <p:ph type="sldNum" sz="quarter" idx="12"/>
          </p:nvPr>
        </p:nvSpPr>
        <p:spPr/>
        <p:txBody>
          <a:bodyPr/>
          <a:lstStyle/>
          <a:p>
            <a:fld id="{B6F15528-21DE-4FAA-801E-634DDDAF4B2B}" type="slidenum">
              <a:rPr lang="en-VN" smtClean="0"/>
              <a:t>7</a:t>
            </a:fld>
            <a:endParaRPr lang="en-VN"/>
          </a:p>
        </p:txBody>
      </p:sp>
      <p:pic>
        <p:nvPicPr>
          <p:cNvPr id="8" name="Picture 7">
            <a:extLst>
              <a:ext uri="{FF2B5EF4-FFF2-40B4-BE49-F238E27FC236}">
                <a16:creationId xmlns:a16="http://schemas.microsoft.com/office/drawing/2014/main" id="{9B43E608-5CAE-DBFE-2988-261540B444F3}"/>
              </a:ext>
            </a:extLst>
          </p:cNvPr>
          <p:cNvPicPr>
            <a:picLocks noChangeAspect="1"/>
          </p:cNvPicPr>
          <p:nvPr/>
        </p:nvPicPr>
        <p:blipFill>
          <a:blip r:embed="rId2"/>
          <a:stretch>
            <a:fillRect/>
          </a:stretch>
        </p:blipFill>
        <p:spPr>
          <a:xfrm>
            <a:off x="2320095" y="2949249"/>
            <a:ext cx="4503810" cy="3772227"/>
          </a:xfrm>
          <a:prstGeom prst="rect">
            <a:avLst/>
          </a:prstGeom>
        </p:spPr>
      </p:pic>
    </p:spTree>
    <p:extLst>
      <p:ext uri="{BB962C8B-B14F-4D97-AF65-F5344CB8AC3E}">
        <p14:creationId xmlns:p14="http://schemas.microsoft.com/office/powerpoint/2010/main" val="3576527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7F3E-F977-BF87-5897-7A437BA9736D}"/>
              </a:ext>
            </a:extLst>
          </p:cNvPr>
          <p:cNvSpPr>
            <a:spLocks noGrp="1"/>
          </p:cNvSpPr>
          <p:nvPr>
            <p:ph type="title"/>
          </p:nvPr>
        </p:nvSpPr>
        <p:spPr/>
        <p:txBody>
          <a:bodyPr/>
          <a:lstStyle/>
          <a:p>
            <a:r>
              <a:rPr lang="en-US" dirty="0"/>
              <a:t>6. </a:t>
            </a:r>
            <a:r>
              <a:rPr lang="en-US" dirty="0" err="1"/>
              <a:t>Các</a:t>
            </a:r>
            <a:r>
              <a:rPr lang="en-US" dirty="0"/>
              <a:t> </a:t>
            </a:r>
            <a:r>
              <a:rPr lang="en-US" dirty="0" err="1"/>
              <a:t>cấu</a:t>
            </a:r>
            <a:r>
              <a:rPr lang="en-US" dirty="0"/>
              <a:t> </a:t>
            </a:r>
            <a:r>
              <a:rPr lang="en-US" dirty="0" err="1"/>
              <a:t>trúc</a:t>
            </a:r>
            <a:r>
              <a:rPr lang="en-US" dirty="0"/>
              <a:t> </a:t>
            </a:r>
            <a:r>
              <a:rPr lang="en-US" dirty="0" err="1"/>
              <a:t>lặp</a:t>
            </a:r>
            <a:r>
              <a:rPr lang="en-US" dirty="0"/>
              <a:t> </a:t>
            </a:r>
            <a:r>
              <a:rPr lang="en-US" dirty="0" err="1"/>
              <a:t>Vòng</a:t>
            </a:r>
            <a:r>
              <a:rPr lang="en-US" dirty="0"/>
              <a:t> for</a:t>
            </a:r>
          </a:p>
        </p:txBody>
      </p:sp>
      <p:sp>
        <p:nvSpPr>
          <p:cNvPr id="3" name="Content Placeholder 2">
            <a:extLst>
              <a:ext uri="{FF2B5EF4-FFF2-40B4-BE49-F238E27FC236}">
                <a16:creationId xmlns:a16="http://schemas.microsoft.com/office/drawing/2014/main" id="{6F255811-1BFF-92D3-E405-DB4A4B410FA7}"/>
              </a:ext>
            </a:extLst>
          </p:cNvPr>
          <p:cNvSpPr>
            <a:spLocks noGrp="1"/>
          </p:cNvSpPr>
          <p:nvPr>
            <p:ph idx="1"/>
          </p:nvPr>
        </p:nvSpPr>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for </a:t>
            </a:r>
            <a:r>
              <a:rPr lang="en-US" b="0" i="0" dirty="0" err="1">
                <a:effectLst/>
                <a:latin typeface="system-ui"/>
              </a:rPr>
              <a:t>lặp</a:t>
            </a:r>
            <a:r>
              <a:rPr lang="en-US" b="0" i="0" dirty="0">
                <a:effectLst/>
                <a:latin typeface="system-ui"/>
              </a:rPr>
              <a:t> qua </a:t>
            </a:r>
            <a:r>
              <a:rPr lang="en-US" b="0" i="0" dirty="0" err="1">
                <a:effectLst/>
                <a:latin typeface="system-ui"/>
              </a:rPr>
              <a:t>một</a:t>
            </a:r>
            <a:r>
              <a:rPr lang="en-US" b="0" i="0" dirty="0">
                <a:effectLst/>
                <a:latin typeface="system-ui"/>
              </a:rPr>
              <a:t> </a:t>
            </a:r>
            <a:r>
              <a:rPr lang="en-US" b="0" i="0" dirty="0" err="1">
                <a:effectLst/>
                <a:latin typeface="system-ui"/>
              </a:rPr>
              <a:t>dãy</a:t>
            </a:r>
            <a:r>
              <a:rPr lang="en-US" b="0" i="0" dirty="0">
                <a:effectLst/>
                <a:latin typeface="system-ui"/>
              </a:rPr>
              <a:t> </a:t>
            </a:r>
            <a:r>
              <a:rPr lang="en-US" b="0" i="0" dirty="0" err="1">
                <a:effectLst/>
                <a:latin typeface="system-ui"/>
              </a:rPr>
              <a:t>giá</a:t>
            </a:r>
            <a:r>
              <a:rPr lang="en-US" b="0" i="0" dirty="0">
                <a:effectLst/>
                <a:latin typeface="system-ui"/>
              </a:rPr>
              <a:t> </a:t>
            </a:r>
            <a:r>
              <a:rPr lang="en-US" b="0" i="0" dirty="0" err="1">
                <a:effectLst/>
                <a:latin typeface="system-ui"/>
              </a:rPr>
              <a:t>trị</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4DA27F87-A4E2-D434-0E47-517713D94266}"/>
              </a:ext>
            </a:extLst>
          </p:cNvPr>
          <p:cNvSpPr>
            <a:spLocks noGrp="1"/>
          </p:cNvSpPr>
          <p:nvPr>
            <p:ph type="sldNum" sz="quarter" idx="12"/>
          </p:nvPr>
        </p:nvSpPr>
        <p:spPr/>
        <p:txBody>
          <a:bodyPr/>
          <a:lstStyle/>
          <a:p>
            <a:fld id="{B6F15528-21DE-4FAA-801E-634DDDAF4B2B}" type="slidenum">
              <a:rPr lang="en-VN" smtClean="0"/>
              <a:t>8</a:t>
            </a:fld>
            <a:endParaRPr lang="en-VN"/>
          </a:p>
        </p:txBody>
      </p:sp>
      <p:pic>
        <p:nvPicPr>
          <p:cNvPr id="6" name="Picture 5">
            <a:extLst>
              <a:ext uri="{FF2B5EF4-FFF2-40B4-BE49-F238E27FC236}">
                <a16:creationId xmlns:a16="http://schemas.microsoft.com/office/drawing/2014/main" id="{635E91C3-B14F-37A6-2A46-0B83529E6EDB}"/>
              </a:ext>
            </a:extLst>
          </p:cNvPr>
          <p:cNvPicPr>
            <a:picLocks noChangeAspect="1"/>
          </p:cNvPicPr>
          <p:nvPr/>
        </p:nvPicPr>
        <p:blipFill>
          <a:blip r:embed="rId2"/>
          <a:stretch>
            <a:fillRect/>
          </a:stretch>
        </p:blipFill>
        <p:spPr>
          <a:xfrm>
            <a:off x="2698408" y="2949916"/>
            <a:ext cx="3414056" cy="3406435"/>
          </a:xfrm>
          <a:prstGeom prst="rect">
            <a:avLst/>
          </a:prstGeom>
        </p:spPr>
      </p:pic>
    </p:spTree>
    <p:extLst>
      <p:ext uri="{BB962C8B-B14F-4D97-AF65-F5344CB8AC3E}">
        <p14:creationId xmlns:p14="http://schemas.microsoft.com/office/powerpoint/2010/main" val="3335685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F2D4-0E7D-9B6F-C376-01053AFC8A0A}"/>
              </a:ext>
            </a:extLst>
          </p:cNvPr>
          <p:cNvSpPr>
            <a:spLocks noGrp="1"/>
          </p:cNvSpPr>
          <p:nvPr>
            <p:ph type="title"/>
          </p:nvPr>
        </p:nvSpPr>
        <p:spPr/>
        <p:txBody>
          <a:bodyPr/>
          <a:lstStyle/>
          <a:p>
            <a:r>
              <a:rPr lang="en-US" dirty="0"/>
              <a:t>7. </a:t>
            </a:r>
            <a:r>
              <a:rPr lang="en-US" dirty="0" err="1"/>
              <a:t>Các</a:t>
            </a:r>
            <a:r>
              <a:rPr lang="en-US" dirty="0"/>
              <a:t> </a:t>
            </a:r>
            <a:r>
              <a:rPr lang="en-US" dirty="0" err="1"/>
              <a:t>câu</a:t>
            </a:r>
            <a:r>
              <a:rPr lang="en-US" dirty="0"/>
              <a:t> </a:t>
            </a:r>
            <a:r>
              <a:rPr lang="en-US" dirty="0" err="1"/>
              <a:t>lệnh</a:t>
            </a:r>
            <a:r>
              <a:rPr lang="en-US" dirty="0"/>
              <a:t> break – continue</a:t>
            </a:r>
          </a:p>
        </p:txBody>
      </p:sp>
      <p:sp>
        <p:nvSpPr>
          <p:cNvPr id="3" name="Content Placeholder 2">
            <a:extLst>
              <a:ext uri="{FF2B5EF4-FFF2-40B4-BE49-F238E27FC236}">
                <a16:creationId xmlns:a16="http://schemas.microsoft.com/office/drawing/2014/main" id="{E4D10AF6-699F-3B71-146B-35E1C2B3B972}"/>
              </a:ext>
            </a:extLst>
          </p:cNvPr>
          <p:cNvSpPr>
            <a:spLocks noGrp="1"/>
          </p:cNvSpPr>
          <p:nvPr>
            <p:ph idx="1"/>
          </p:nvPr>
        </p:nvSpPr>
        <p:spPr>
          <a:xfrm>
            <a:off x="628650" y="1825625"/>
            <a:ext cx="3409950" cy="4351338"/>
          </a:xfrm>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break </a:t>
            </a:r>
            <a:r>
              <a:rPr lang="en-US" b="0" i="0" dirty="0" err="1">
                <a:effectLst/>
                <a:latin typeface="system-ui"/>
              </a:rPr>
              <a:t>thoát</a:t>
            </a:r>
            <a:r>
              <a:rPr lang="en-US" b="0" i="0" dirty="0">
                <a:effectLst/>
                <a:latin typeface="system-ui"/>
              </a:rPr>
              <a:t> </a:t>
            </a:r>
            <a:r>
              <a:rPr lang="en-US" b="0" i="0" dirty="0" err="1">
                <a:effectLst/>
                <a:latin typeface="system-ui"/>
              </a:rPr>
              <a:t>khỏi</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continue </a:t>
            </a:r>
            <a:r>
              <a:rPr lang="en-US" b="0" i="0" dirty="0" err="1">
                <a:effectLst/>
                <a:latin typeface="system-ui"/>
              </a:rPr>
              <a:t>bỏ</a:t>
            </a:r>
            <a:r>
              <a:rPr lang="en-US" b="0" i="0" dirty="0">
                <a:effectLst/>
                <a:latin typeface="system-ui"/>
              </a:rPr>
              <a:t> qua </a:t>
            </a:r>
            <a:r>
              <a:rPr lang="en-US" b="0" i="0" dirty="0" err="1">
                <a:effectLst/>
                <a:latin typeface="system-ui"/>
              </a:rPr>
              <a:t>phần</a:t>
            </a:r>
            <a:r>
              <a:rPr lang="en-US" b="0" i="0" dirty="0">
                <a:effectLst/>
                <a:latin typeface="system-ui"/>
              </a:rPr>
              <a:t> </a:t>
            </a:r>
            <a:r>
              <a:rPr lang="en-US" b="0" i="0" dirty="0" err="1">
                <a:effectLst/>
                <a:latin typeface="system-ui"/>
              </a:rPr>
              <a:t>còn</a:t>
            </a:r>
            <a:r>
              <a:rPr lang="en-US" b="0" i="0" dirty="0">
                <a:effectLst/>
                <a:latin typeface="system-ui"/>
              </a:rPr>
              <a:t> </a:t>
            </a:r>
            <a:r>
              <a:rPr lang="en-US" b="0" i="0" dirty="0" err="1">
                <a:effectLst/>
                <a:latin typeface="system-ui"/>
              </a:rPr>
              <a:t>lại</a:t>
            </a:r>
            <a:r>
              <a:rPr lang="en-US" b="0" i="0" dirty="0">
                <a:effectLst/>
                <a:latin typeface="system-ui"/>
              </a:rPr>
              <a:t> </a:t>
            </a:r>
            <a:r>
              <a:rPr lang="en-US" b="0" i="0" dirty="0" err="1">
                <a:effectLst/>
                <a:latin typeface="system-ui"/>
              </a:rPr>
              <a:t>của</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a:t>
            </a:r>
            <a:r>
              <a:rPr lang="en-US" b="0" i="0" dirty="0" err="1">
                <a:effectLst/>
                <a:latin typeface="system-ui"/>
              </a:rPr>
              <a:t>hiện</a:t>
            </a:r>
            <a:r>
              <a:rPr lang="en-US" b="0" i="0" dirty="0">
                <a:effectLst/>
                <a:latin typeface="system-ui"/>
              </a:rPr>
              <a:t> </a:t>
            </a:r>
            <a:r>
              <a:rPr lang="en-US" b="0" i="0" dirty="0" err="1">
                <a:effectLst/>
                <a:latin typeface="system-ui"/>
              </a:rPr>
              <a:t>tại</a:t>
            </a:r>
            <a:r>
              <a:rPr lang="en-US" b="0" i="0" dirty="0">
                <a:effectLst/>
                <a:latin typeface="system-ui"/>
              </a:rPr>
              <a:t> </a:t>
            </a:r>
            <a:r>
              <a:rPr lang="en-US" b="0" i="0" dirty="0" err="1">
                <a:effectLst/>
                <a:latin typeface="system-ui"/>
              </a:rPr>
              <a:t>và</a:t>
            </a:r>
            <a:r>
              <a:rPr lang="en-US" b="0" i="0" dirty="0">
                <a:effectLst/>
                <a:latin typeface="system-ui"/>
              </a:rPr>
              <a:t> </a:t>
            </a:r>
            <a:r>
              <a:rPr lang="en-US" b="0" i="0" dirty="0" err="1">
                <a:effectLst/>
                <a:latin typeface="system-ui"/>
              </a:rPr>
              <a:t>tiếp</a:t>
            </a:r>
            <a:r>
              <a:rPr lang="en-US" b="0" i="0" dirty="0">
                <a:effectLst/>
                <a:latin typeface="system-ui"/>
              </a:rPr>
              <a:t> </a:t>
            </a:r>
            <a:r>
              <a:rPr lang="en-US" b="0" i="0" dirty="0" err="1">
                <a:effectLst/>
                <a:latin typeface="system-ui"/>
              </a:rPr>
              <a:t>tục</a:t>
            </a:r>
            <a:r>
              <a:rPr lang="en-US" b="0" i="0" dirty="0">
                <a:effectLst/>
                <a:latin typeface="system-ui"/>
              </a:rPr>
              <a:t> </a:t>
            </a:r>
            <a:r>
              <a:rPr lang="en-US" b="0" i="0" dirty="0" err="1">
                <a:effectLst/>
                <a:latin typeface="system-ui"/>
              </a:rPr>
              <a:t>với</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a:t>
            </a:r>
            <a:r>
              <a:rPr lang="en-US" b="0" i="0" dirty="0" err="1">
                <a:effectLst/>
                <a:latin typeface="system-ui"/>
              </a:rPr>
              <a:t>tiếp</a:t>
            </a:r>
            <a:r>
              <a:rPr lang="en-US" b="0" i="0" dirty="0">
                <a:effectLst/>
                <a:latin typeface="system-ui"/>
              </a:rPr>
              <a:t> </a:t>
            </a:r>
            <a:r>
              <a:rPr lang="en-US" b="0" i="0" dirty="0" err="1">
                <a:effectLst/>
                <a:latin typeface="system-ui"/>
              </a:rPr>
              <a:t>theo.</a:t>
            </a:r>
            <a:endParaRPr lang="en-US" dirty="0"/>
          </a:p>
        </p:txBody>
      </p:sp>
      <p:sp>
        <p:nvSpPr>
          <p:cNvPr id="4" name="Slide Number Placeholder 3">
            <a:extLst>
              <a:ext uri="{FF2B5EF4-FFF2-40B4-BE49-F238E27FC236}">
                <a16:creationId xmlns:a16="http://schemas.microsoft.com/office/drawing/2014/main" id="{9FBD78E9-9674-BCDC-3196-A89B98E1754D}"/>
              </a:ext>
            </a:extLst>
          </p:cNvPr>
          <p:cNvSpPr>
            <a:spLocks noGrp="1"/>
          </p:cNvSpPr>
          <p:nvPr>
            <p:ph type="sldNum" sz="quarter" idx="12"/>
          </p:nvPr>
        </p:nvSpPr>
        <p:spPr/>
        <p:txBody>
          <a:bodyPr/>
          <a:lstStyle/>
          <a:p>
            <a:fld id="{B6F15528-21DE-4FAA-801E-634DDDAF4B2B}" type="slidenum">
              <a:rPr lang="en-VN" smtClean="0"/>
              <a:t>9</a:t>
            </a:fld>
            <a:endParaRPr lang="en-VN"/>
          </a:p>
        </p:txBody>
      </p:sp>
      <p:pic>
        <p:nvPicPr>
          <p:cNvPr id="6" name="Picture 5">
            <a:extLst>
              <a:ext uri="{FF2B5EF4-FFF2-40B4-BE49-F238E27FC236}">
                <a16:creationId xmlns:a16="http://schemas.microsoft.com/office/drawing/2014/main" id="{6384DEF5-2B3B-7F62-9C0B-A37BCBAAB33B}"/>
              </a:ext>
            </a:extLst>
          </p:cNvPr>
          <p:cNvPicPr>
            <a:picLocks noChangeAspect="1"/>
          </p:cNvPicPr>
          <p:nvPr/>
        </p:nvPicPr>
        <p:blipFill>
          <a:blip r:embed="rId2"/>
          <a:stretch>
            <a:fillRect/>
          </a:stretch>
        </p:blipFill>
        <p:spPr>
          <a:xfrm>
            <a:off x="3870503" y="1892214"/>
            <a:ext cx="5273497" cy="4953429"/>
          </a:xfrm>
          <a:prstGeom prst="rect">
            <a:avLst/>
          </a:prstGeom>
        </p:spPr>
      </p:pic>
    </p:spTree>
    <p:extLst>
      <p:ext uri="{BB962C8B-B14F-4D97-AF65-F5344CB8AC3E}">
        <p14:creationId xmlns:p14="http://schemas.microsoft.com/office/powerpoint/2010/main" val="305477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C9138-BFB2-49A8-9FA0-ADDCD25C264F}"/>
              </a:ext>
            </a:extLst>
          </p:cNvPr>
          <p:cNvSpPr>
            <a:spLocks noGrp="1"/>
          </p:cNvSpPr>
          <p:nvPr>
            <p:ph type="title"/>
          </p:nvPr>
        </p:nvSpPr>
        <p:spPr/>
        <p:txBody>
          <a:bodyPr>
            <a:normAutofit/>
          </a:bodyPr>
          <a:lstStyle/>
          <a:p>
            <a:r>
              <a:rPr lang="en-US" sz="3200" b="1"/>
              <a:t>7. Câu lệnh “break” và “continue”</a:t>
            </a:r>
            <a:br>
              <a:rPr lang="en-US" sz="3200" b="1"/>
            </a:br>
            <a:endParaRPr lang="en-US" sz="3200" b="1"/>
          </a:p>
        </p:txBody>
      </p:sp>
      <p:sp>
        <p:nvSpPr>
          <p:cNvPr id="4" name="Slide Number Placeholder 3">
            <a:extLst>
              <a:ext uri="{FF2B5EF4-FFF2-40B4-BE49-F238E27FC236}">
                <a16:creationId xmlns:a16="http://schemas.microsoft.com/office/drawing/2014/main" id="{7BDD8FC3-ED6B-4142-8E3A-74DEDBF1A4D8}"/>
              </a:ext>
            </a:extLst>
          </p:cNvPr>
          <p:cNvSpPr>
            <a:spLocks noGrp="1"/>
          </p:cNvSpPr>
          <p:nvPr>
            <p:ph type="sldNum" sz="quarter" idx="12"/>
          </p:nvPr>
        </p:nvSpPr>
        <p:spPr/>
        <p:txBody>
          <a:bodyPr/>
          <a:lstStyle/>
          <a:p>
            <a:fld id="{B6F15528-21DE-4FAA-801E-634DDDAF4B2B}" type="slidenum">
              <a:rPr lang="en-VN" smtClean="0"/>
              <a:t>10</a:t>
            </a:fld>
            <a:endParaRPr lang="en-VN"/>
          </a:p>
        </p:txBody>
      </p:sp>
      <p:sp>
        <p:nvSpPr>
          <p:cNvPr id="5" name="Rounded Rectangle 3">
            <a:extLst>
              <a:ext uri="{FF2B5EF4-FFF2-40B4-BE49-F238E27FC236}">
                <a16:creationId xmlns:a16="http://schemas.microsoft.com/office/drawing/2014/main" id="{88605647-C01C-4A63-906F-9263C54D3897}"/>
              </a:ext>
            </a:extLst>
          </p:cNvPr>
          <p:cNvSpPr/>
          <p:nvPr/>
        </p:nvSpPr>
        <p:spPr>
          <a:xfrm>
            <a:off x="2716025" y="1447800"/>
            <a:ext cx="3460988" cy="82180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tx1"/>
                </a:solidFill>
              </a:rPr>
              <a:t>Lệnh</a:t>
            </a:r>
            <a:r>
              <a:rPr lang="en-US" sz="2400" b="1" dirty="0">
                <a:solidFill>
                  <a:schemeClr val="tx1"/>
                </a:solidFill>
              </a:rPr>
              <a:t> </a:t>
            </a:r>
            <a:r>
              <a:rPr lang="en-US" sz="2400" b="1" dirty="0" err="1">
                <a:solidFill>
                  <a:schemeClr val="tx1"/>
                </a:solidFill>
              </a:rPr>
              <a:t>điều</a:t>
            </a:r>
            <a:r>
              <a:rPr lang="en-US" sz="2400" b="1" dirty="0">
                <a:solidFill>
                  <a:schemeClr val="tx1"/>
                </a:solidFill>
              </a:rPr>
              <a:t> </a:t>
            </a:r>
            <a:r>
              <a:rPr lang="en-US" sz="2400" b="1" dirty="0" err="1">
                <a:solidFill>
                  <a:schemeClr val="tx1"/>
                </a:solidFill>
              </a:rPr>
              <a:t>khiển</a:t>
            </a:r>
            <a:r>
              <a:rPr lang="en-US" sz="2400" b="1" dirty="0">
                <a:solidFill>
                  <a:schemeClr val="tx1"/>
                </a:solidFill>
              </a:rPr>
              <a:t> </a:t>
            </a:r>
            <a:r>
              <a:rPr lang="en-US" sz="2400" b="1" dirty="0" err="1">
                <a:solidFill>
                  <a:schemeClr val="tx1"/>
                </a:solidFill>
              </a:rPr>
              <a:t>vòng</a:t>
            </a:r>
            <a:r>
              <a:rPr lang="en-US" sz="2400" b="1" dirty="0">
                <a:solidFill>
                  <a:schemeClr val="tx1"/>
                </a:solidFill>
              </a:rPr>
              <a:t> </a:t>
            </a:r>
            <a:r>
              <a:rPr lang="en-US" sz="2400" b="1" dirty="0" err="1">
                <a:solidFill>
                  <a:schemeClr val="tx1"/>
                </a:solidFill>
              </a:rPr>
              <a:t>lặp</a:t>
            </a:r>
            <a:endParaRPr lang="en-US" sz="2400" b="1" dirty="0">
              <a:solidFill>
                <a:schemeClr val="tx1"/>
              </a:solidFill>
            </a:endParaRPr>
          </a:p>
        </p:txBody>
      </p:sp>
      <p:sp>
        <p:nvSpPr>
          <p:cNvPr id="6" name="Rounded Rectangle 6">
            <a:extLst>
              <a:ext uri="{FF2B5EF4-FFF2-40B4-BE49-F238E27FC236}">
                <a16:creationId xmlns:a16="http://schemas.microsoft.com/office/drawing/2014/main" id="{35533AFD-EA6A-4181-8C08-0B0C00299F49}"/>
              </a:ext>
            </a:extLst>
          </p:cNvPr>
          <p:cNvSpPr/>
          <p:nvPr/>
        </p:nvSpPr>
        <p:spPr>
          <a:xfrm>
            <a:off x="3483962" y="3120246"/>
            <a:ext cx="1925596" cy="78104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Lệnh</a:t>
            </a:r>
            <a:r>
              <a:rPr lang="en-US" dirty="0">
                <a:solidFill>
                  <a:schemeClr val="tx1"/>
                </a:solidFill>
              </a:rPr>
              <a:t> continue</a:t>
            </a:r>
          </a:p>
        </p:txBody>
      </p:sp>
      <p:sp>
        <p:nvSpPr>
          <p:cNvPr id="7" name="Rounded Rectangle 10">
            <a:extLst>
              <a:ext uri="{FF2B5EF4-FFF2-40B4-BE49-F238E27FC236}">
                <a16:creationId xmlns:a16="http://schemas.microsoft.com/office/drawing/2014/main" id="{33126D21-02C4-4643-8462-B5C713FE4DBB}"/>
              </a:ext>
            </a:extLst>
          </p:cNvPr>
          <p:cNvSpPr/>
          <p:nvPr/>
        </p:nvSpPr>
        <p:spPr>
          <a:xfrm>
            <a:off x="569119" y="3126159"/>
            <a:ext cx="1658121" cy="782594"/>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Lệnh</a:t>
            </a:r>
            <a:r>
              <a:rPr lang="en-US" dirty="0">
                <a:solidFill>
                  <a:schemeClr val="tx1"/>
                </a:solidFill>
              </a:rPr>
              <a:t> break</a:t>
            </a:r>
          </a:p>
        </p:txBody>
      </p:sp>
      <p:sp>
        <p:nvSpPr>
          <p:cNvPr id="8" name="Rounded Rectangle 12">
            <a:extLst>
              <a:ext uri="{FF2B5EF4-FFF2-40B4-BE49-F238E27FC236}">
                <a16:creationId xmlns:a16="http://schemas.microsoft.com/office/drawing/2014/main" id="{BFF7E953-E613-43B0-8C6F-F5F76176C88F}"/>
              </a:ext>
            </a:extLst>
          </p:cNvPr>
          <p:cNvSpPr/>
          <p:nvPr/>
        </p:nvSpPr>
        <p:spPr>
          <a:xfrm>
            <a:off x="7021662" y="3130960"/>
            <a:ext cx="1567762" cy="77624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Lệnh</a:t>
            </a:r>
            <a:r>
              <a:rPr lang="en-US" dirty="0">
                <a:solidFill>
                  <a:schemeClr val="tx1"/>
                </a:solidFill>
              </a:rPr>
              <a:t> pass</a:t>
            </a:r>
          </a:p>
        </p:txBody>
      </p:sp>
      <p:cxnSp>
        <p:nvCxnSpPr>
          <p:cNvPr id="9" name="Elbow Connector 17">
            <a:extLst>
              <a:ext uri="{FF2B5EF4-FFF2-40B4-BE49-F238E27FC236}">
                <a16:creationId xmlns:a16="http://schemas.microsoft.com/office/drawing/2014/main" id="{C743EAE8-32E7-4D59-AB58-9A17CA2EF085}"/>
              </a:ext>
            </a:extLst>
          </p:cNvPr>
          <p:cNvCxnSpPr/>
          <p:nvPr/>
        </p:nvCxnSpPr>
        <p:spPr>
          <a:xfrm rot="5400000">
            <a:off x="2375768" y="1045759"/>
            <a:ext cx="1048611" cy="309240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20">
            <a:extLst>
              <a:ext uri="{FF2B5EF4-FFF2-40B4-BE49-F238E27FC236}">
                <a16:creationId xmlns:a16="http://schemas.microsoft.com/office/drawing/2014/main" id="{F92C1D59-C826-46C0-B455-6A7AEBC1B0F4}"/>
              </a:ext>
            </a:extLst>
          </p:cNvPr>
          <p:cNvCxnSpPr/>
          <p:nvPr/>
        </p:nvCxnSpPr>
        <p:spPr>
          <a:xfrm rot="16200000" flipH="1">
            <a:off x="5577532" y="935537"/>
            <a:ext cx="1053412" cy="33149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2D1D251-B6CE-4557-B0A8-EC11C1A2D95B}"/>
              </a:ext>
            </a:extLst>
          </p:cNvPr>
          <p:cNvPicPr>
            <a:picLocks noChangeAspect="1"/>
          </p:cNvPicPr>
          <p:nvPr/>
        </p:nvPicPr>
        <p:blipFill>
          <a:blip r:embed="rId2"/>
          <a:stretch>
            <a:fillRect/>
          </a:stretch>
        </p:blipFill>
        <p:spPr>
          <a:xfrm>
            <a:off x="0" y="4401237"/>
            <a:ext cx="2907957" cy="1943441"/>
          </a:xfrm>
          <a:prstGeom prst="rect">
            <a:avLst/>
          </a:prstGeom>
        </p:spPr>
      </p:pic>
      <p:pic>
        <p:nvPicPr>
          <p:cNvPr id="12" name="Picture 11">
            <a:extLst>
              <a:ext uri="{FF2B5EF4-FFF2-40B4-BE49-F238E27FC236}">
                <a16:creationId xmlns:a16="http://schemas.microsoft.com/office/drawing/2014/main" id="{7228B087-48F5-4917-9ED1-420A57294617}"/>
              </a:ext>
            </a:extLst>
          </p:cNvPr>
          <p:cNvPicPr>
            <a:picLocks noChangeAspect="1"/>
          </p:cNvPicPr>
          <p:nvPr/>
        </p:nvPicPr>
        <p:blipFill>
          <a:blip r:embed="rId3"/>
          <a:stretch>
            <a:fillRect/>
          </a:stretch>
        </p:blipFill>
        <p:spPr>
          <a:xfrm>
            <a:off x="3048000" y="4401237"/>
            <a:ext cx="2957383" cy="1943441"/>
          </a:xfrm>
          <a:prstGeom prst="rect">
            <a:avLst/>
          </a:prstGeom>
        </p:spPr>
      </p:pic>
      <p:pic>
        <p:nvPicPr>
          <p:cNvPr id="13" name="Picture 12">
            <a:extLst>
              <a:ext uri="{FF2B5EF4-FFF2-40B4-BE49-F238E27FC236}">
                <a16:creationId xmlns:a16="http://schemas.microsoft.com/office/drawing/2014/main" id="{72924F70-7868-4358-9594-8F2AEAB0421B}"/>
              </a:ext>
            </a:extLst>
          </p:cNvPr>
          <p:cNvPicPr>
            <a:picLocks noChangeAspect="1"/>
          </p:cNvPicPr>
          <p:nvPr/>
        </p:nvPicPr>
        <p:blipFill>
          <a:blip r:embed="rId4"/>
          <a:stretch>
            <a:fillRect/>
          </a:stretch>
        </p:blipFill>
        <p:spPr>
          <a:xfrm>
            <a:off x="6104238" y="4349815"/>
            <a:ext cx="3039762" cy="1994863"/>
          </a:xfrm>
          <a:prstGeom prst="rect">
            <a:avLst/>
          </a:prstGeom>
        </p:spPr>
      </p:pic>
      <p:cxnSp>
        <p:nvCxnSpPr>
          <p:cNvPr id="14" name="Straight Arrow Connector 13">
            <a:extLst>
              <a:ext uri="{FF2B5EF4-FFF2-40B4-BE49-F238E27FC236}">
                <a16:creationId xmlns:a16="http://schemas.microsoft.com/office/drawing/2014/main" id="{1B85B0D1-48AA-47BA-994A-9D14E5DBFC35}"/>
              </a:ext>
            </a:extLst>
          </p:cNvPr>
          <p:cNvCxnSpPr>
            <a:stCxn id="5" idx="2"/>
          </p:cNvCxnSpPr>
          <p:nvPr/>
        </p:nvCxnSpPr>
        <p:spPr>
          <a:xfrm>
            <a:off x="4446519" y="2269601"/>
            <a:ext cx="1207" cy="875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11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6D7C-EF75-EEB3-7B67-4B3271BCF1AC}"/>
              </a:ext>
            </a:extLst>
          </p:cNvPr>
          <p:cNvSpPr>
            <a:spLocks noGrp="1"/>
          </p:cNvSpPr>
          <p:nvPr>
            <p:ph type="title"/>
          </p:nvPr>
        </p:nvSpPr>
        <p:spPr/>
        <p:txBody>
          <a:bodyPr/>
          <a:lstStyle/>
          <a:p>
            <a:r>
              <a:rPr lang="da-DK" dirty="0"/>
              <a:t>8. Cấu trúc while/else và for/else</a:t>
            </a:r>
            <a:endParaRPr lang="en-US" dirty="0"/>
          </a:p>
        </p:txBody>
      </p:sp>
      <p:sp>
        <p:nvSpPr>
          <p:cNvPr id="3" name="Content Placeholder 2">
            <a:extLst>
              <a:ext uri="{FF2B5EF4-FFF2-40B4-BE49-F238E27FC236}">
                <a16:creationId xmlns:a16="http://schemas.microsoft.com/office/drawing/2014/main" id="{1CC59C15-29F6-764C-FB06-A1A3EC1BDF74}"/>
              </a:ext>
            </a:extLst>
          </p:cNvPr>
          <p:cNvSpPr>
            <a:spLocks noGrp="1"/>
          </p:cNvSpPr>
          <p:nvPr>
            <p:ph idx="1"/>
          </p:nvPr>
        </p:nvSpPr>
        <p:spPr>
          <a:xfrm>
            <a:off x="628650" y="1825625"/>
            <a:ext cx="3790950" cy="4351338"/>
          </a:xfrm>
        </p:spPr>
        <p:txBody>
          <a:bodyPr/>
          <a:lstStyle/>
          <a:p>
            <a:r>
              <a:rPr lang="vi-VN" b="1" i="0" dirty="0">
                <a:effectLst/>
                <a:latin typeface="system-ui"/>
              </a:rPr>
              <a:t>Khái niệm:</a:t>
            </a:r>
            <a:r>
              <a:rPr lang="vi-VN" b="0" i="0" dirty="0">
                <a:effectLst/>
                <a:latin typeface="system-ui"/>
              </a:rPr>
              <a:t> else trong vòng lặp while hoặc for được thực thi khi vòng lặp kết thúc mà không gặp break.</a:t>
            </a:r>
            <a:endParaRPr lang="en-US" dirty="0"/>
          </a:p>
        </p:txBody>
      </p:sp>
      <p:sp>
        <p:nvSpPr>
          <p:cNvPr id="4" name="Slide Number Placeholder 3">
            <a:extLst>
              <a:ext uri="{FF2B5EF4-FFF2-40B4-BE49-F238E27FC236}">
                <a16:creationId xmlns:a16="http://schemas.microsoft.com/office/drawing/2014/main" id="{73C82A2C-20B9-60DE-E79A-CD9D66A89304}"/>
              </a:ext>
            </a:extLst>
          </p:cNvPr>
          <p:cNvSpPr>
            <a:spLocks noGrp="1"/>
          </p:cNvSpPr>
          <p:nvPr>
            <p:ph type="sldNum" sz="quarter" idx="12"/>
          </p:nvPr>
        </p:nvSpPr>
        <p:spPr/>
        <p:txBody>
          <a:bodyPr/>
          <a:lstStyle/>
          <a:p>
            <a:fld id="{B6F15528-21DE-4FAA-801E-634DDDAF4B2B}" type="slidenum">
              <a:rPr lang="en-VN" smtClean="0"/>
              <a:t>11</a:t>
            </a:fld>
            <a:endParaRPr lang="en-VN"/>
          </a:p>
        </p:txBody>
      </p:sp>
      <p:pic>
        <p:nvPicPr>
          <p:cNvPr id="6" name="Picture 5">
            <a:extLst>
              <a:ext uri="{FF2B5EF4-FFF2-40B4-BE49-F238E27FC236}">
                <a16:creationId xmlns:a16="http://schemas.microsoft.com/office/drawing/2014/main" id="{482866DE-13C3-BB76-7CFA-824371F087FA}"/>
              </a:ext>
            </a:extLst>
          </p:cNvPr>
          <p:cNvPicPr>
            <a:picLocks noChangeAspect="1"/>
          </p:cNvPicPr>
          <p:nvPr/>
        </p:nvPicPr>
        <p:blipFill>
          <a:blip r:embed="rId2"/>
          <a:stretch>
            <a:fillRect/>
          </a:stretch>
        </p:blipFill>
        <p:spPr>
          <a:xfrm>
            <a:off x="4572000" y="1322173"/>
            <a:ext cx="4494564" cy="5535827"/>
          </a:xfrm>
          <a:prstGeom prst="rect">
            <a:avLst/>
          </a:prstGeom>
        </p:spPr>
      </p:pic>
    </p:spTree>
    <p:extLst>
      <p:ext uri="{BB962C8B-B14F-4D97-AF65-F5344CB8AC3E}">
        <p14:creationId xmlns:p14="http://schemas.microsoft.com/office/powerpoint/2010/main" val="1738933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448B-2D06-EE01-4C3A-98261C3F799E}"/>
              </a:ext>
            </a:extLst>
          </p:cNvPr>
          <p:cNvSpPr>
            <a:spLocks noGrp="1"/>
          </p:cNvSpPr>
          <p:nvPr>
            <p:ph type="title"/>
          </p:nvPr>
        </p:nvSpPr>
        <p:spPr/>
        <p:txBody>
          <a:bodyPr/>
          <a:lstStyle/>
          <a:p>
            <a:r>
              <a:rPr lang="en-US" dirty="0"/>
              <a:t>9. </a:t>
            </a:r>
            <a:r>
              <a:rPr lang="en-US" dirty="0" err="1"/>
              <a:t>Vòng</a:t>
            </a:r>
            <a:r>
              <a:rPr lang="en-US" dirty="0"/>
              <a:t> </a:t>
            </a:r>
            <a:r>
              <a:rPr lang="en-US" dirty="0" err="1"/>
              <a:t>lặp</a:t>
            </a:r>
            <a:r>
              <a:rPr lang="en-US" dirty="0"/>
              <a:t> </a:t>
            </a:r>
            <a:r>
              <a:rPr lang="en-US" dirty="0" err="1"/>
              <a:t>lồng</a:t>
            </a:r>
            <a:r>
              <a:rPr lang="en-US" dirty="0"/>
              <a:t> </a:t>
            </a:r>
            <a:r>
              <a:rPr lang="en-US" dirty="0" err="1"/>
              <a:t>nhau</a:t>
            </a:r>
            <a:endParaRPr lang="en-US" dirty="0"/>
          </a:p>
        </p:txBody>
      </p:sp>
      <p:sp>
        <p:nvSpPr>
          <p:cNvPr id="3" name="Content Placeholder 2">
            <a:extLst>
              <a:ext uri="{FF2B5EF4-FFF2-40B4-BE49-F238E27FC236}">
                <a16:creationId xmlns:a16="http://schemas.microsoft.com/office/drawing/2014/main" id="{9E7B118F-A91D-1256-EDCA-90984E435367}"/>
              </a:ext>
            </a:extLst>
          </p:cNvPr>
          <p:cNvSpPr>
            <a:spLocks noGrp="1"/>
          </p:cNvSpPr>
          <p:nvPr>
            <p:ph idx="1"/>
          </p:nvPr>
        </p:nvSpPr>
        <p:spPr>
          <a:xfrm>
            <a:off x="628650" y="1825625"/>
            <a:ext cx="3562350" cy="4351338"/>
          </a:xfrm>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a:t>
            </a:r>
            <a:r>
              <a:rPr lang="en-US" b="0" i="0" dirty="0" err="1">
                <a:effectLst/>
                <a:latin typeface="system-ui"/>
              </a:rPr>
              <a:t>lồng</a:t>
            </a:r>
            <a:r>
              <a:rPr lang="en-US" b="0" i="0" dirty="0">
                <a:effectLst/>
                <a:latin typeface="system-ui"/>
              </a:rPr>
              <a:t> </a:t>
            </a:r>
            <a:r>
              <a:rPr lang="en-US" b="0" i="0" dirty="0" err="1">
                <a:effectLst/>
                <a:latin typeface="system-ui"/>
              </a:rPr>
              <a:t>nhau</a:t>
            </a:r>
            <a:r>
              <a:rPr lang="en-US" b="0" i="0" dirty="0">
                <a:effectLst/>
                <a:latin typeface="system-ui"/>
              </a:rPr>
              <a:t> </a:t>
            </a:r>
            <a:r>
              <a:rPr lang="en-US" b="0" i="0" dirty="0" err="1">
                <a:effectLst/>
                <a:latin typeface="system-ui"/>
              </a:rPr>
              <a:t>là</a:t>
            </a:r>
            <a:r>
              <a:rPr lang="en-US" b="0" i="0" dirty="0">
                <a:effectLst/>
                <a:latin typeface="system-ui"/>
              </a:rPr>
              <a:t>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a:t>
            </a:r>
            <a:r>
              <a:rPr lang="en-US" b="0" i="0" dirty="0" err="1">
                <a:effectLst/>
                <a:latin typeface="system-ui"/>
              </a:rPr>
              <a:t>bên</a:t>
            </a:r>
            <a:r>
              <a:rPr lang="en-US" b="0" i="0" dirty="0">
                <a:effectLst/>
                <a:latin typeface="system-ui"/>
              </a:rPr>
              <a:t> trong </a:t>
            </a:r>
            <a:r>
              <a:rPr lang="en-US" b="0" i="0" dirty="0" err="1">
                <a:effectLst/>
                <a:latin typeface="system-ui"/>
              </a:rPr>
              <a:t>vòng</a:t>
            </a:r>
            <a:r>
              <a:rPr lang="en-US" b="0" i="0" dirty="0">
                <a:effectLst/>
                <a:latin typeface="system-ui"/>
              </a:rPr>
              <a:t> </a:t>
            </a:r>
            <a:r>
              <a:rPr lang="en-US" b="0" i="0" dirty="0" err="1">
                <a:effectLst/>
                <a:latin typeface="system-ui"/>
              </a:rPr>
              <a:t>lặp</a:t>
            </a:r>
            <a:r>
              <a:rPr lang="en-US" b="0" i="0" dirty="0">
                <a:effectLst/>
                <a:latin typeface="system-ui"/>
              </a:rPr>
              <a:t> </a:t>
            </a:r>
            <a:r>
              <a:rPr lang="en-US" b="0" i="0" dirty="0" err="1">
                <a:effectLst/>
                <a:latin typeface="system-ui"/>
              </a:rPr>
              <a:t>khác</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E3F1BBE5-3B68-46F6-1ADD-2DBC564AA812}"/>
              </a:ext>
            </a:extLst>
          </p:cNvPr>
          <p:cNvSpPr>
            <a:spLocks noGrp="1"/>
          </p:cNvSpPr>
          <p:nvPr>
            <p:ph type="sldNum" sz="quarter" idx="12"/>
          </p:nvPr>
        </p:nvSpPr>
        <p:spPr/>
        <p:txBody>
          <a:bodyPr/>
          <a:lstStyle/>
          <a:p>
            <a:fld id="{B6F15528-21DE-4FAA-801E-634DDDAF4B2B}" type="slidenum">
              <a:rPr lang="en-VN" smtClean="0"/>
              <a:t>12</a:t>
            </a:fld>
            <a:endParaRPr lang="en-VN"/>
          </a:p>
        </p:txBody>
      </p:sp>
      <p:pic>
        <p:nvPicPr>
          <p:cNvPr id="6" name="Picture 5">
            <a:extLst>
              <a:ext uri="{FF2B5EF4-FFF2-40B4-BE49-F238E27FC236}">
                <a16:creationId xmlns:a16="http://schemas.microsoft.com/office/drawing/2014/main" id="{3F527475-39BD-0D58-F477-5FA3931EDDF4}"/>
              </a:ext>
            </a:extLst>
          </p:cNvPr>
          <p:cNvPicPr>
            <a:picLocks noChangeAspect="1"/>
          </p:cNvPicPr>
          <p:nvPr/>
        </p:nvPicPr>
        <p:blipFill>
          <a:blip r:embed="rId2"/>
          <a:stretch>
            <a:fillRect/>
          </a:stretch>
        </p:blipFill>
        <p:spPr>
          <a:xfrm>
            <a:off x="4114800" y="2050011"/>
            <a:ext cx="4961050" cy="4671465"/>
          </a:xfrm>
          <a:prstGeom prst="rect">
            <a:avLst/>
          </a:prstGeom>
        </p:spPr>
      </p:pic>
    </p:spTree>
    <p:extLst>
      <p:ext uri="{BB962C8B-B14F-4D97-AF65-F5344CB8AC3E}">
        <p14:creationId xmlns:p14="http://schemas.microsoft.com/office/powerpoint/2010/main" val="3861317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B0A0-0A54-7685-D6B1-D0476C318948}"/>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BB6668E9-180F-3AC2-4954-B2198D697A7D}"/>
              </a:ext>
            </a:extLst>
          </p:cNvPr>
          <p:cNvSpPr txBox="1"/>
          <p:nvPr/>
        </p:nvSpPr>
        <p:spPr>
          <a:xfrm>
            <a:off x="838200" y="2761555"/>
            <a:ext cx="6781800" cy="936154"/>
          </a:xfrm>
          <a:prstGeom prst="rect">
            <a:avLst/>
          </a:prstGeom>
        </p:spPr>
        <p:txBody>
          <a:bodyPr vert="horz" wrap="square" lIns="0" tIns="12700" rIns="0" bIns="0" rtlCol="0">
            <a:spAutoFit/>
          </a:bodyPr>
          <a:lstStyle/>
          <a:p>
            <a:pPr marL="12700" algn="ctr">
              <a:lnSpc>
                <a:spcPct val="100000"/>
              </a:lnSpc>
              <a:spcBef>
                <a:spcPts val="100"/>
              </a:spcBef>
            </a:pPr>
            <a:r>
              <a:rPr lang="vi-VN" sz="6000" b="1" spc="-5" dirty="0">
                <a:solidFill>
                  <a:srgbClr val="326064"/>
                </a:solidFill>
                <a:latin typeface="Arial"/>
                <a:cs typeface="Arial"/>
              </a:rPr>
              <a:t>QA</a:t>
            </a:r>
            <a:endParaRPr lang="vi-VN" sz="6000" b="1" u="sng" spc="-5" dirty="0">
              <a:solidFill>
                <a:srgbClr val="326064"/>
              </a:solidFill>
              <a:latin typeface="Arial"/>
              <a:cs typeface="Arial"/>
            </a:endParaRPr>
          </a:p>
        </p:txBody>
      </p:sp>
      <p:grpSp>
        <p:nvGrpSpPr>
          <p:cNvPr id="9" name="object 9">
            <a:extLst>
              <a:ext uri="{FF2B5EF4-FFF2-40B4-BE49-F238E27FC236}">
                <a16:creationId xmlns:a16="http://schemas.microsoft.com/office/drawing/2014/main" id="{0A7A442E-B6FF-816A-EF59-7BCB8307EE11}"/>
              </a:ext>
            </a:extLst>
          </p:cNvPr>
          <p:cNvGrpSpPr/>
          <p:nvPr/>
        </p:nvGrpSpPr>
        <p:grpSpPr>
          <a:xfrm>
            <a:off x="2228062" y="4150547"/>
            <a:ext cx="356873" cy="160658"/>
            <a:chOff x="2228062" y="4150547"/>
            <a:chExt cx="356873" cy="160658"/>
          </a:xfrm>
        </p:grpSpPr>
        <p:sp>
          <p:nvSpPr>
            <p:cNvPr id="11" name="object 11">
              <a:extLst>
                <a:ext uri="{FF2B5EF4-FFF2-40B4-BE49-F238E27FC236}">
                  <a16:creationId xmlns:a16="http://schemas.microsoft.com/office/drawing/2014/main" id="{F8C2B815-B2C0-0D76-872C-08DA579FD013}"/>
                </a:ext>
              </a:extLst>
            </p:cNvPr>
            <p:cNvSpPr/>
            <p:nvPr/>
          </p:nvSpPr>
          <p:spPr>
            <a:xfrm>
              <a:off x="2228062" y="4150550"/>
              <a:ext cx="356870" cy="160655"/>
            </a:xfrm>
            <a:custGeom>
              <a:avLst/>
              <a:gdLst/>
              <a:ahLst/>
              <a:cxnLst/>
              <a:rect l="l" t="t" r="r" b="b"/>
              <a:pathLst>
                <a:path w="356869" h="160654">
                  <a:moveTo>
                    <a:pt x="92075" y="0"/>
                  </a:moveTo>
                  <a:lnTo>
                    <a:pt x="0" y="68135"/>
                  </a:lnTo>
                  <a:lnTo>
                    <a:pt x="68135" y="160210"/>
                  </a:lnTo>
                  <a:lnTo>
                    <a:pt x="74117" y="120154"/>
                  </a:lnTo>
                  <a:lnTo>
                    <a:pt x="344779" y="160604"/>
                  </a:lnTo>
                  <a:lnTo>
                    <a:pt x="356755" y="80505"/>
                  </a:lnTo>
                  <a:lnTo>
                    <a:pt x="86093" y="40055"/>
                  </a:lnTo>
                  <a:lnTo>
                    <a:pt x="92075" y="0"/>
                  </a:lnTo>
                  <a:close/>
                </a:path>
              </a:pathLst>
            </a:custGeom>
            <a:solidFill>
              <a:srgbClr val="FFFFFF"/>
            </a:solidFill>
          </p:spPr>
          <p:txBody>
            <a:bodyPr wrap="square" lIns="0" tIns="0" rIns="0" bIns="0" rtlCol="0"/>
            <a:lstStyle/>
            <a:p>
              <a:endParaRPr/>
            </a:p>
          </p:txBody>
        </p:sp>
        <p:sp>
          <p:nvSpPr>
            <p:cNvPr id="12" name="object 12">
              <a:extLst>
                <a:ext uri="{FF2B5EF4-FFF2-40B4-BE49-F238E27FC236}">
                  <a16:creationId xmlns:a16="http://schemas.microsoft.com/office/drawing/2014/main" id="{453ED95D-B51D-210A-DF78-780E59BE5CF3}"/>
                </a:ext>
              </a:extLst>
            </p:cNvPr>
            <p:cNvSpPr/>
            <p:nvPr/>
          </p:nvSpPr>
          <p:spPr>
            <a:xfrm>
              <a:off x="2228065" y="4150547"/>
              <a:ext cx="356870" cy="160655"/>
            </a:xfrm>
            <a:custGeom>
              <a:avLst/>
              <a:gdLst/>
              <a:ahLst/>
              <a:cxnLst/>
              <a:rect l="l" t="t" r="r" b="b"/>
              <a:pathLst>
                <a:path w="356869" h="160654">
                  <a:moveTo>
                    <a:pt x="0" y="68132"/>
                  </a:moveTo>
                  <a:lnTo>
                    <a:pt x="92077" y="0"/>
                  </a:lnTo>
                  <a:lnTo>
                    <a:pt x="86091" y="40052"/>
                  </a:lnTo>
                  <a:lnTo>
                    <a:pt x="356749" y="80506"/>
                  </a:lnTo>
                  <a:lnTo>
                    <a:pt x="344776" y="160611"/>
                  </a:lnTo>
                  <a:lnTo>
                    <a:pt x="74118" y="120158"/>
                  </a:lnTo>
                  <a:lnTo>
                    <a:pt x="68132" y="160210"/>
                  </a:lnTo>
                  <a:lnTo>
                    <a:pt x="0" y="68132"/>
                  </a:lnTo>
                  <a:close/>
                </a:path>
              </a:pathLst>
            </a:custGeom>
            <a:ln w="19049">
              <a:solidFill>
                <a:srgbClr val="FFFFFF"/>
              </a:solidFill>
            </a:ln>
          </p:spPr>
          <p:txBody>
            <a:bodyPr wrap="square" lIns="0" tIns="0" rIns="0" bIns="0" rtlCol="0"/>
            <a:lstStyle/>
            <a:p>
              <a:endParaRPr/>
            </a:p>
          </p:txBody>
        </p:sp>
      </p:grpSp>
      <p:sp>
        <p:nvSpPr>
          <p:cNvPr id="2" name="Rectangle 1">
            <a:extLst>
              <a:ext uri="{FF2B5EF4-FFF2-40B4-BE49-F238E27FC236}">
                <a16:creationId xmlns:a16="http://schemas.microsoft.com/office/drawing/2014/main" id="{A58C4279-10FE-56D6-AAB9-15A2BCEB6C8F}"/>
              </a:ext>
            </a:extLst>
          </p:cNvPr>
          <p:cNvSpPr/>
          <p:nvPr/>
        </p:nvSpPr>
        <p:spPr>
          <a:xfrm>
            <a:off x="3200400" y="685800"/>
            <a:ext cx="1863395" cy="430887"/>
          </a:xfrm>
          <a:prstGeom prst="rect">
            <a:avLst/>
          </a:prstGeom>
        </p:spPr>
        <p:txBody>
          <a:bodyPr wrap="none">
            <a:spAutoFit/>
          </a:bodyPr>
          <a:lstStyle/>
          <a:p>
            <a:pPr marL="12700">
              <a:lnSpc>
                <a:spcPct val="100000"/>
              </a:lnSpc>
              <a:spcBef>
                <a:spcPts val="100"/>
              </a:spcBef>
            </a:pPr>
            <a:r>
              <a:rPr lang="vi-VN" sz="2200" b="1" u="sng" spc="-5" dirty="0">
                <a:solidFill>
                  <a:srgbClr val="326064"/>
                </a:solidFill>
                <a:latin typeface="Arial"/>
                <a:cs typeface="Arial"/>
              </a:rPr>
              <a:t>THANK YOU</a:t>
            </a:r>
          </a:p>
        </p:txBody>
      </p:sp>
    </p:spTree>
    <p:extLst>
      <p:ext uri="{BB962C8B-B14F-4D97-AF65-F5344CB8AC3E}">
        <p14:creationId xmlns:p14="http://schemas.microsoft.com/office/powerpoint/2010/main" val="700141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DA3A-A693-4841-B65E-EBA3753DE376}"/>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357F84D0-9162-D8B5-A37B-E49E698831C3}"/>
              </a:ext>
            </a:extLst>
          </p:cNvPr>
          <p:cNvSpPr txBox="1">
            <a:spLocks noGrp="1"/>
          </p:cNvSpPr>
          <p:nvPr>
            <p:ph type="title"/>
          </p:nvPr>
        </p:nvSpPr>
        <p:spPr>
          <a:xfrm>
            <a:off x="762000" y="1294958"/>
            <a:ext cx="7467600" cy="2579617"/>
          </a:xfrm>
          <a:prstGeom prst="rect">
            <a:avLst/>
          </a:prstGeom>
        </p:spPr>
        <p:txBody>
          <a:bodyPr vert="horz" wrap="square" lIns="0" tIns="15875" rIns="0" bIns="0" rtlCol="0" anchor="ctr">
            <a:spAutoFit/>
          </a:bodyPr>
          <a:lstStyle/>
          <a:p>
            <a:pPr marL="385445" marR="5080" indent="-373380" algn="ctr">
              <a:lnSpc>
                <a:spcPct val="150000"/>
              </a:lnSpc>
              <a:spcBef>
                <a:spcPts val="125"/>
              </a:spcBef>
            </a:pPr>
            <a:r>
              <a:rPr lang="vi-VN" sz="3600" dirty="0"/>
              <a:t>CHỦ ĐỀ </a:t>
            </a:r>
            <a:r>
              <a:rPr lang="en-US" sz="3600" dirty="0"/>
              <a:t>3</a:t>
            </a:r>
            <a:br>
              <a:rPr lang="vi-VN" dirty="0"/>
            </a:br>
            <a:r>
              <a:rPr lang="vi-VN" dirty="0"/>
              <a:t>KHÁI NIỆM HÀM VÀ CÁC HÀM</a:t>
            </a:r>
            <a:endParaRPr lang="vi-VN" sz="4000" b="1" dirty="0">
              <a:solidFill>
                <a:schemeClr val="tx1"/>
              </a:solidFill>
            </a:endParaRPr>
          </a:p>
        </p:txBody>
      </p:sp>
      <p:sp>
        <p:nvSpPr>
          <p:cNvPr id="2" name="Slide Number Placeholder 1">
            <a:extLst>
              <a:ext uri="{FF2B5EF4-FFF2-40B4-BE49-F238E27FC236}">
                <a16:creationId xmlns:a16="http://schemas.microsoft.com/office/drawing/2014/main" id="{AD5CE24B-D949-D2E7-EC12-B50889796407}"/>
              </a:ext>
            </a:extLst>
          </p:cNvPr>
          <p:cNvSpPr>
            <a:spLocks noGrp="1"/>
          </p:cNvSpPr>
          <p:nvPr>
            <p:ph type="sldNum" sz="quarter" idx="12"/>
          </p:nvPr>
        </p:nvSpPr>
        <p:spPr/>
        <p:txBody>
          <a:bodyPr/>
          <a:lstStyle/>
          <a:p>
            <a:fld id="{B6F15528-21DE-4FAA-801E-634DDDAF4B2B}" type="slidenum">
              <a:rPr lang="en-VN" smtClean="0"/>
              <a:t>14</a:t>
            </a:fld>
            <a:endParaRPr lang="en-VN"/>
          </a:p>
        </p:txBody>
      </p:sp>
    </p:spTree>
    <p:extLst>
      <p:ext uri="{BB962C8B-B14F-4D97-AF65-F5344CB8AC3E}">
        <p14:creationId xmlns:p14="http://schemas.microsoft.com/office/powerpoint/2010/main" val="3799526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96570" y="533400"/>
            <a:ext cx="8150860" cy="3958199"/>
          </a:xfrm>
          <a:prstGeom prst="rect">
            <a:avLst/>
          </a:prstGeom>
        </p:spPr>
        <p:txBody>
          <a:bodyPr vert="horz" wrap="square" lIns="0" tIns="247650" rIns="0" bIns="0" rtlCol="0">
            <a:spAutoFit/>
          </a:bodyPr>
          <a:lstStyle/>
          <a:p>
            <a:pPr marL="12700" algn="ctr">
              <a:lnSpc>
                <a:spcPct val="100000"/>
              </a:lnSpc>
              <a:spcBef>
                <a:spcPts val="1950"/>
              </a:spcBef>
            </a:pPr>
            <a:r>
              <a:rPr sz="2400" b="1" spc="-5" dirty="0">
                <a:solidFill>
                  <a:srgbClr val="424456"/>
                </a:solidFill>
                <a:latin typeface="Arial" panose="020B0604020202020204" pitchFamily="34" charset="0"/>
                <a:cs typeface="Arial" panose="020B0604020202020204" pitchFamily="34" charset="0"/>
              </a:rPr>
              <a:t>NỘI</a:t>
            </a:r>
            <a:r>
              <a:rPr sz="2400" b="1" spc="-10" dirty="0">
                <a:solidFill>
                  <a:srgbClr val="424456"/>
                </a:solidFill>
                <a:latin typeface="Arial" panose="020B0604020202020204" pitchFamily="34" charset="0"/>
                <a:cs typeface="Arial" panose="020B0604020202020204" pitchFamily="34" charset="0"/>
              </a:rPr>
              <a:t> </a:t>
            </a:r>
            <a:r>
              <a:rPr sz="2400" b="1" spc="-5" dirty="0">
                <a:solidFill>
                  <a:srgbClr val="424456"/>
                </a:solidFill>
                <a:latin typeface="Arial" panose="020B0604020202020204" pitchFamily="34" charset="0"/>
                <a:cs typeface="Arial" panose="020B0604020202020204" pitchFamily="34" charset="0"/>
              </a:rPr>
              <a:t>DUNG</a:t>
            </a:r>
            <a:endParaRPr lang="vi-VN" sz="2400" b="1" spc="-5" dirty="0">
              <a:solidFill>
                <a:srgbClr val="424456"/>
              </a:solidFill>
              <a:latin typeface="Arial" panose="020B0604020202020204" pitchFamily="34" charset="0"/>
              <a:cs typeface="Arial" panose="020B0604020202020204" pitchFamily="34" charset="0"/>
            </a:endParaRPr>
          </a:p>
          <a:p>
            <a:pPr marL="12700" algn="ctr">
              <a:lnSpc>
                <a:spcPct val="100000"/>
              </a:lnSpc>
              <a:spcBef>
                <a:spcPts val="1950"/>
              </a:spcBef>
            </a:pPr>
            <a:r>
              <a:rPr lang="vi-VN" sz="2400"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a:p>
            <a:pPr marL="1257300" lvl="2" indent="-342900">
              <a:lnSpc>
                <a:spcPct val="150000"/>
              </a:lnSpc>
              <a:buFont typeface="+mj-lt"/>
              <a:buAutoNum type="arabicPeriod"/>
            </a:pPr>
            <a:r>
              <a:rPr lang="en-US" sz="2000" dirty="0" err="1">
                <a:latin typeface="Arial" panose="020B0604020202020204" pitchFamily="34" charset="0"/>
                <a:cs typeface="Arial" panose="020B0604020202020204" pitchFamily="34" charset="0"/>
              </a:rPr>
              <a:t>Khái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endParaRPr lang="en-VN" sz="2000" dirty="0">
              <a:latin typeface="Arial" panose="020B0604020202020204" pitchFamily="34" charset="0"/>
              <a:cs typeface="Arial" panose="020B0604020202020204" pitchFamily="34" charset="0"/>
            </a:endParaRPr>
          </a:p>
          <a:p>
            <a:pPr lvl="3">
              <a:lnSpc>
                <a:spcPct val="150000"/>
              </a:lnSpc>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trúc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endParaRPr lang="en-VN" sz="2000" dirty="0">
              <a:latin typeface="Arial" panose="020B0604020202020204" pitchFamily="34" charset="0"/>
              <a:cs typeface="Arial" panose="020B0604020202020204" pitchFamily="34" charset="0"/>
            </a:endParaRPr>
          </a:p>
          <a:p>
            <a:pPr lvl="3">
              <a:lnSpc>
                <a:spcPct val="150000"/>
              </a:lnSpc>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gọi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endParaRPr lang="en-VN" sz="2000" dirty="0">
              <a:latin typeface="Arial" panose="020B0604020202020204" pitchFamily="34" charset="0"/>
              <a:cs typeface="Arial" panose="020B0604020202020204" pitchFamily="34" charset="0"/>
            </a:endParaRPr>
          </a:p>
          <a:p>
            <a:pPr lvl="3">
              <a:lnSpc>
                <a:spcPct val="150000"/>
              </a:lnSpc>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Nguyên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tắc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endParaRPr lang="en-VN" sz="2000" dirty="0">
              <a:latin typeface="Arial" panose="020B0604020202020204" pitchFamily="34" charset="0"/>
              <a:cs typeface="Arial" panose="020B0604020202020204" pitchFamily="34" charset="0"/>
            </a:endParaRPr>
          </a:p>
          <a:p>
            <a:pPr lvl="3">
              <a:lnSpc>
                <a:spcPct val="150000"/>
              </a:lnSpc>
            </a:pP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endParaRPr lang="en-VN" sz="2000" dirty="0">
              <a:latin typeface="Arial" panose="020B0604020202020204" pitchFamily="34" charset="0"/>
              <a:cs typeface="Arial" panose="020B0604020202020204" pitchFamily="34" charset="0"/>
            </a:endParaRPr>
          </a:p>
          <a:p>
            <a:pPr marL="1257300" lvl="2" indent="-342900">
              <a:lnSpc>
                <a:spcPct val="150000"/>
              </a:lnSpc>
              <a:buFont typeface="+mj-lt"/>
              <a:buAutoNum type="arabicPeriod"/>
            </a:pPr>
            <a:r>
              <a:rPr lang="en-US" sz="2000" dirty="0" err="1">
                <a:latin typeface="Arial" panose="020B0604020202020204" pitchFamily="34" charset="0"/>
                <a:cs typeface="Arial" panose="020B0604020202020204" pitchFamily="34" charset="0"/>
              </a:rPr>
              <a:t>Các</a:t>
            </a:r>
            <a:r>
              <a:rPr lang="vi-VN" sz="2000" dirty="0">
                <a:latin typeface="Arial" panose="020B0604020202020204" pitchFamily="34" charset="0"/>
                <a:cs typeface="Arial" panose="020B0604020202020204" pitchFamily="34" charset="0"/>
              </a:rPr>
              <a:t> hàm  thuật toán thường gặp</a:t>
            </a:r>
            <a:endParaRPr lang="en-V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3975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EFA15-F399-9096-095C-F3E289DF6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D036A-FD44-2DB9-FDF7-1998D2B972A2}"/>
              </a:ext>
            </a:extLst>
          </p:cNvPr>
          <p:cNvSpPr>
            <a:spLocks noGrp="1"/>
          </p:cNvSpPr>
          <p:nvPr>
            <p:ph type="title"/>
          </p:nvPr>
        </p:nvSpPr>
        <p:spPr/>
        <p:txBody>
          <a:bodyPr/>
          <a:lstStyle/>
          <a:p>
            <a:r>
              <a:rPr lang="en-US" dirty="0"/>
              <a:t>1. </a:t>
            </a:r>
            <a:r>
              <a:rPr lang="en-US" dirty="0" err="1"/>
              <a:t>Khái</a:t>
            </a:r>
            <a:r>
              <a:rPr lang="en-US" dirty="0"/>
              <a:t> </a:t>
            </a:r>
            <a:r>
              <a:rPr lang="en-US" dirty="0" err="1"/>
              <a:t>niệm</a:t>
            </a:r>
            <a:r>
              <a:rPr lang="en-US" dirty="0"/>
              <a:t> </a:t>
            </a:r>
            <a:r>
              <a:rPr lang="en-US" dirty="0" err="1"/>
              <a:t>về</a:t>
            </a:r>
            <a:r>
              <a:rPr lang="en-US" dirty="0"/>
              <a:t> </a:t>
            </a:r>
            <a:r>
              <a:rPr lang="en-US" dirty="0" err="1"/>
              <a:t>hàm</a:t>
            </a:r>
            <a:r>
              <a:rPr lang="en-US" dirty="0"/>
              <a:t>¶</a:t>
            </a:r>
          </a:p>
        </p:txBody>
      </p:sp>
      <p:sp>
        <p:nvSpPr>
          <p:cNvPr id="3" name="Content Placeholder 2">
            <a:extLst>
              <a:ext uri="{FF2B5EF4-FFF2-40B4-BE49-F238E27FC236}">
                <a16:creationId xmlns:a16="http://schemas.microsoft.com/office/drawing/2014/main" id="{7BD38198-F948-65CA-D753-C722DA784C03}"/>
              </a:ext>
            </a:extLst>
          </p:cNvPr>
          <p:cNvSpPr>
            <a:spLocks noGrp="1"/>
          </p:cNvSpPr>
          <p:nvPr>
            <p:ph idx="1"/>
          </p:nvPr>
        </p:nvSpPr>
        <p:spPr>
          <a:xfrm>
            <a:off x="618353" y="1371600"/>
            <a:ext cx="7886700" cy="4351338"/>
          </a:xfrm>
        </p:spPr>
        <p:txBody>
          <a:bodyPr/>
          <a:lstStyle/>
          <a:p>
            <a:r>
              <a:rPr lang="vi-VN" b="1" i="0" dirty="0">
                <a:effectLst/>
                <a:latin typeface="system-ui"/>
              </a:rPr>
              <a:t>Khái niệm:</a:t>
            </a:r>
            <a:r>
              <a:rPr lang="vi-VN" b="0" i="0" dirty="0">
                <a:effectLst/>
                <a:latin typeface="system-ui"/>
              </a:rPr>
              <a:t> Hàm là một khối mã được đặt tên, có thể được gọi và thực thi nhiều lần trong chương trình. Hàm giúp tổ chức mã nguồn, tái sử dụng mã và làm cho chương trình dễ đọc hơn. Cấu trúc tổng quát của hàm bao gồm từ khóa </a:t>
            </a:r>
            <a:r>
              <a:rPr lang="vi-VN" b="1" i="0" dirty="0">
                <a:effectLst/>
                <a:latin typeface="system-ui"/>
              </a:rPr>
              <a:t>def</a:t>
            </a:r>
            <a:r>
              <a:rPr lang="vi-VN" b="0" i="0" dirty="0">
                <a:effectLst/>
                <a:latin typeface="system-ui"/>
              </a:rPr>
              <a:t>, tên hàm, danh sách tham số trong dấu ngoặc đơn, và khối mã được thụt lề.</a:t>
            </a:r>
            <a:endParaRPr lang="en-US" dirty="0"/>
          </a:p>
        </p:txBody>
      </p:sp>
      <p:sp>
        <p:nvSpPr>
          <p:cNvPr id="4" name="Slide Number Placeholder 3">
            <a:extLst>
              <a:ext uri="{FF2B5EF4-FFF2-40B4-BE49-F238E27FC236}">
                <a16:creationId xmlns:a16="http://schemas.microsoft.com/office/drawing/2014/main" id="{9E995143-A73E-5636-33C4-D2B5A04C04E3}"/>
              </a:ext>
            </a:extLst>
          </p:cNvPr>
          <p:cNvSpPr>
            <a:spLocks noGrp="1"/>
          </p:cNvSpPr>
          <p:nvPr>
            <p:ph type="sldNum" sz="quarter" idx="12"/>
          </p:nvPr>
        </p:nvSpPr>
        <p:spPr/>
        <p:txBody>
          <a:bodyPr/>
          <a:lstStyle/>
          <a:p>
            <a:fld id="{B6F15528-21DE-4FAA-801E-634DDDAF4B2B}" type="slidenum">
              <a:rPr lang="en-VN" smtClean="0"/>
              <a:t>16</a:t>
            </a:fld>
            <a:endParaRPr lang="en-VN"/>
          </a:p>
        </p:txBody>
      </p:sp>
      <p:pic>
        <p:nvPicPr>
          <p:cNvPr id="6" name="Picture 5">
            <a:extLst>
              <a:ext uri="{FF2B5EF4-FFF2-40B4-BE49-F238E27FC236}">
                <a16:creationId xmlns:a16="http://schemas.microsoft.com/office/drawing/2014/main" id="{1A37F603-7C37-DEFF-2F42-7D6F09E8747F}"/>
              </a:ext>
            </a:extLst>
          </p:cNvPr>
          <p:cNvPicPr>
            <a:picLocks noChangeAspect="1"/>
          </p:cNvPicPr>
          <p:nvPr/>
        </p:nvPicPr>
        <p:blipFill>
          <a:blip r:embed="rId2"/>
          <a:stretch>
            <a:fillRect/>
          </a:stretch>
        </p:blipFill>
        <p:spPr>
          <a:xfrm>
            <a:off x="3048000" y="3930979"/>
            <a:ext cx="4328535" cy="2827265"/>
          </a:xfrm>
          <a:prstGeom prst="rect">
            <a:avLst/>
          </a:prstGeom>
        </p:spPr>
      </p:pic>
    </p:spTree>
    <p:extLst>
      <p:ext uri="{BB962C8B-B14F-4D97-AF65-F5344CB8AC3E}">
        <p14:creationId xmlns:p14="http://schemas.microsoft.com/office/powerpoint/2010/main" val="3142402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B86BF-0900-91D2-F64A-887AC42D9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D384B-E288-983F-6B89-16266B986040}"/>
              </a:ext>
            </a:extLst>
          </p:cNvPr>
          <p:cNvSpPr>
            <a:spLocks noGrp="1"/>
          </p:cNvSpPr>
          <p:nvPr>
            <p:ph type="title"/>
          </p:nvPr>
        </p:nvSpPr>
        <p:spPr/>
        <p:txBody>
          <a:bodyPr/>
          <a:lstStyle/>
          <a:p>
            <a:r>
              <a:rPr lang="en-US" b="1" i="0" dirty="0">
                <a:effectLst/>
                <a:latin typeface="system-ui"/>
              </a:rPr>
              <a:t>2. </a:t>
            </a:r>
            <a:r>
              <a:rPr lang="en-US" b="1" i="0" dirty="0" err="1">
                <a:effectLst/>
                <a:latin typeface="system-ui"/>
              </a:rPr>
              <a:t>Cách</a:t>
            </a:r>
            <a:r>
              <a:rPr lang="en-US" b="1" i="0" dirty="0">
                <a:effectLst/>
                <a:latin typeface="system-ui"/>
              </a:rPr>
              <a:t> </a:t>
            </a:r>
            <a:r>
              <a:rPr lang="en-US" b="1" i="0" dirty="0" err="1">
                <a:effectLst/>
                <a:latin typeface="system-ui"/>
              </a:rPr>
              <a:t>gọi</a:t>
            </a:r>
            <a:r>
              <a:rPr lang="en-US" b="1" i="0" dirty="0">
                <a:effectLst/>
                <a:latin typeface="system-ui"/>
              </a:rPr>
              <a:t> </a:t>
            </a:r>
            <a:r>
              <a:rPr lang="en-US" b="1" i="0" dirty="0" err="1">
                <a:effectLst/>
                <a:latin typeface="system-ui"/>
              </a:rPr>
              <a:t>hàm</a:t>
            </a:r>
            <a:endParaRPr lang="en-US" dirty="0"/>
          </a:p>
        </p:txBody>
      </p:sp>
      <p:sp>
        <p:nvSpPr>
          <p:cNvPr id="3" name="Content Placeholder 2">
            <a:extLst>
              <a:ext uri="{FF2B5EF4-FFF2-40B4-BE49-F238E27FC236}">
                <a16:creationId xmlns:a16="http://schemas.microsoft.com/office/drawing/2014/main" id="{17A8CCB2-DE77-504C-A0A1-C736A791F223}"/>
              </a:ext>
            </a:extLst>
          </p:cNvPr>
          <p:cNvSpPr>
            <a:spLocks noGrp="1"/>
          </p:cNvSpPr>
          <p:nvPr>
            <p:ph idx="1"/>
          </p:nvPr>
        </p:nvSpPr>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Gọi</a:t>
            </a:r>
            <a:r>
              <a:rPr lang="en-US" b="0" i="0" dirty="0">
                <a:effectLst/>
                <a:latin typeface="system-ui"/>
              </a:rPr>
              <a:t> </a:t>
            </a:r>
            <a:r>
              <a:rPr lang="en-US" b="0" i="0" dirty="0" err="1">
                <a:effectLst/>
                <a:latin typeface="system-ui"/>
              </a:rPr>
              <a:t>hàm</a:t>
            </a:r>
            <a:r>
              <a:rPr lang="en-US" b="0" i="0" dirty="0">
                <a:effectLst/>
                <a:latin typeface="system-ui"/>
              </a:rPr>
              <a:t> </a:t>
            </a:r>
            <a:r>
              <a:rPr lang="en-US" b="0" i="0" dirty="0" err="1">
                <a:effectLst/>
                <a:latin typeface="system-ui"/>
              </a:rPr>
              <a:t>là</a:t>
            </a:r>
            <a:r>
              <a:rPr lang="en-US" b="0" i="0" dirty="0">
                <a:effectLst/>
                <a:latin typeface="system-ui"/>
              </a:rPr>
              <a:t> </a:t>
            </a:r>
            <a:r>
              <a:rPr lang="en-US" b="0" i="0" dirty="0" err="1">
                <a:effectLst/>
                <a:latin typeface="system-ui"/>
              </a:rPr>
              <a:t>quá</a:t>
            </a:r>
            <a:r>
              <a:rPr lang="en-US" b="0" i="0" dirty="0">
                <a:effectLst/>
                <a:latin typeface="system-ui"/>
              </a:rPr>
              <a:t> </a:t>
            </a:r>
            <a:r>
              <a:rPr lang="en-US" b="0" i="0" dirty="0" err="1">
                <a:effectLst/>
                <a:latin typeface="system-ui"/>
              </a:rPr>
              <a:t>trình</a:t>
            </a:r>
            <a:r>
              <a:rPr lang="en-US" b="0" i="0" dirty="0">
                <a:effectLst/>
                <a:latin typeface="system-ui"/>
              </a:rPr>
              <a:t> </a:t>
            </a:r>
            <a:r>
              <a:rPr lang="en-US" b="0" i="0" dirty="0" err="1">
                <a:effectLst/>
                <a:latin typeface="system-ui"/>
              </a:rPr>
              <a:t>thực</a:t>
            </a:r>
            <a:r>
              <a:rPr lang="en-US" b="0" i="0" dirty="0">
                <a:effectLst/>
                <a:latin typeface="system-ui"/>
              </a:rPr>
              <a:t> </a:t>
            </a:r>
            <a:r>
              <a:rPr lang="en-US" b="0" i="0" dirty="0" err="1">
                <a:effectLst/>
                <a:latin typeface="system-ui"/>
              </a:rPr>
              <a:t>thi</a:t>
            </a:r>
            <a:r>
              <a:rPr lang="en-US" b="0" i="0" dirty="0">
                <a:effectLst/>
                <a:latin typeface="system-ui"/>
              </a:rPr>
              <a:t> </a:t>
            </a:r>
            <a:r>
              <a:rPr lang="en-US" b="0" i="0" dirty="0" err="1">
                <a:effectLst/>
                <a:latin typeface="system-ui"/>
              </a:rPr>
              <a:t>hàm</a:t>
            </a:r>
            <a:r>
              <a:rPr lang="en-US" b="0" i="0" dirty="0">
                <a:effectLst/>
                <a:latin typeface="system-ui"/>
              </a:rPr>
              <a:t> </a:t>
            </a:r>
            <a:r>
              <a:rPr lang="en-US" b="0" i="0" dirty="0" err="1">
                <a:effectLst/>
                <a:latin typeface="system-ui"/>
              </a:rPr>
              <a:t>bằng</a:t>
            </a:r>
            <a:r>
              <a:rPr lang="en-US" b="0" i="0" dirty="0">
                <a:effectLst/>
                <a:latin typeface="system-ui"/>
              </a:rPr>
              <a:t> </a:t>
            </a:r>
            <a:r>
              <a:rPr lang="en-US" b="0" i="0" dirty="0" err="1">
                <a:effectLst/>
                <a:latin typeface="system-ui"/>
              </a:rPr>
              <a:t>cách</a:t>
            </a:r>
            <a:r>
              <a:rPr lang="en-US" b="0" i="0" dirty="0">
                <a:effectLst/>
                <a:latin typeface="system-ui"/>
              </a:rPr>
              <a:t> </a:t>
            </a:r>
            <a:r>
              <a:rPr lang="en-US" b="0" i="0" dirty="0" err="1">
                <a:effectLst/>
                <a:latin typeface="system-ui"/>
              </a:rPr>
              <a:t>sử</a:t>
            </a:r>
            <a:r>
              <a:rPr lang="en-US" b="0" i="0" dirty="0">
                <a:effectLst/>
                <a:latin typeface="system-ui"/>
              </a:rPr>
              <a:t> </a:t>
            </a:r>
            <a:r>
              <a:rPr lang="en-US" b="0" i="0" dirty="0" err="1">
                <a:effectLst/>
                <a:latin typeface="system-ui"/>
              </a:rPr>
              <a:t>dụng</a:t>
            </a:r>
            <a:r>
              <a:rPr lang="en-US" b="0" i="0" dirty="0">
                <a:effectLst/>
                <a:latin typeface="system-ui"/>
              </a:rPr>
              <a:t> </a:t>
            </a:r>
            <a:r>
              <a:rPr lang="en-US" b="0" i="0" dirty="0" err="1">
                <a:effectLst/>
                <a:latin typeface="system-ui"/>
              </a:rPr>
              <a:t>tên</a:t>
            </a:r>
            <a:r>
              <a:rPr lang="en-US" b="0" i="0" dirty="0">
                <a:effectLst/>
                <a:latin typeface="system-ui"/>
              </a:rPr>
              <a:t> </a:t>
            </a:r>
            <a:r>
              <a:rPr lang="en-US" b="0" i="0" dirty="0" err="1">
                <a:effectLst/>
                <a:latin typeface="system-ui"/>
              </a:rPr>
              <a:t>hàm</a:t>
            </a:r>
            <a:r>
              <a:rPr lang="en-US" b="0" i="0" dirty="0">
                <a:effectLst/>
                <a:latin typeface="system-ui"/>
              </a:rPr>
              <a:t> </a:t>
            </a:r>
            <a:r>
              <a:rPr lang="en-US" b="0" i="0" dirty="0" err="1">
                <a:effectLst/>
                <a:latin typeface="system-ui"/>
              </a:rPr>
              <a:t>và</a:t>
            </a:r>
            <a:r>
              <a:rPr lang="en-US" b="0" i="0" dirty="0">
                <a:effectLst/>
                <a:latin typeface="system-ui"/>
              </a:rPr>
              <a:t> </a:t>
            </a:r>
            <a:r>
              <a:rPr lang="en-US" b="0" i="0" dirty="0" err="1">
                <a:effectLst/>
                <a:latin typeface="system-ui"/>
              </a:rPr>
              <a:t>cung</a:t>
            </a:r>
            <a:r>
              <a:rPr lang="en-US" b="0" i="0" dirty="0">
                <a:effectLst/>
                <a:latin typeface="system-ui"/>
              </a:rPr>
              <a:t> </a:t>
            </a:r>
            <a:r>
              <a:rPr lang="en-US" b="0" i="0" dirty="0" err="1">
                <a:effectLst/>
                <a:latin typeface="system-ui"/>
              </a:rPr>
              <a:t>cấp</a:t>
            </a:r>
            <a:r>
              <a:rPr lang="en-US" b="0" i="0" dirty="0">
                <a:effectLst/>
                <a:latin typeface="system-ui"/>
              </a:rPr>
              <a:t> </a:t>
            </a:r>
            <a:r>
              <a:rPr lang="en-US" b="0" i="0" dirty="0" err="1">
                <a:effectLst/>
                <a:latin typeface="system-ui"/>
              </a:rPr>
              <a:t>các</a:t>
            </a:r>
            <a:r>
              <a:rPr lang="en-US" b="0" i="0" dirty="0">
                <a:effectLst/>
                <a:latin typeface="system-ui"/>
              </a:rPr>
              <a:t> </a:t>
            </a:r>
            <a:r>
              <a:rPr lang="en-US" b="0" i="0" dirty="0" err="1">
                <a:effectLst/>
                <a:latin typeface="system-ui"/>
              </a:rPr>
              <a:t>giá</a:t>
            </a:r>
            <a:r>
              <a:rPr lang="en-US" b="0" i="0" dirty="0">
                <a:effectLst/>
                <a:latin typeface="system-ui"/>
              </a:rPr>
              <a:t> </a:t>
            </a:r>
            <a:r>
              <a:rPr lang="en-US" b="0" i="0" dirty="0" err="1">
                <a:effectLst/>
                <a:latin typeface="system-ui"/>
              </a:rPr>
              <a:t>trị</a:t>
            </a:r>
            <a:r>
              <a:rPr lang="en-US" b="0" i="0" dirty="0">
                <a:effectLst/>
                <a:latin typeface="system-ui"/>
              </a:rPr>
              <a:t> </a:t>
            </a:r>
            <a:r>
              <a:rPr lang="en-US" b="0" i="0" dirty="0" err="1">
                <a:effectLst/>
                <a:latin typeface="system-ui"/>
              </a:rPr>
              <a:t>tham</a:t>
            </a:r>
            <a:r>
              <a:rPr lang="en-US" b="0" i="0" dirty="0">
                <a:effectLst/>
                <a:latin typeface="system-ui"/>
              </a:rPr>
              <a:t> </a:t>
            </a:r>
            <a:r>
              <a:rPr lang="en-US" b="0" i="0" dirty="0" err="1">
                <a:effectLst/>
                <a:latin typeface="system-ui"/>
              </a:rPr>
              <a:t>số</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3156A76A-FD6A-59E5-12F8-DA604584DC04}"/>
              </a:ext>
            </a:extLst>
          </p:cNvPr>
          <p:cNvSpPr>
            <a:spLocks noGrp="1"/>
          </p:cNvSpPr>
          <p:nvPr>
            <p:ph type="sldNum" sz="quarter" idx="12"/>
          </p:nvPr>
        </p:nvSpPr>
        <p:spPr/>
        <p:txBody>
          <a:bodyPr/>
          <a:lstStyle/>
          <a:p>
            <a:fld id="{B6F15528-21DE-4FAA-801E-634DDDAF4B2B}" type="slidenum">
              <a:rPr lang="en-VN" smtClean="0"/>
              <a:t>17</a:t>
            </a:fld>
            <a:endParaRPr lang="en-VN"/>
          </a:p>
        </p:txBody>
      </p:sp>
      <p:pic>
        <p:nvPicPr>
          <p:cNvPr id="6" name="Picture 5">
            <a:extLst>
              <a:ext uri="{FF2B5EF4-FFF2-40B4-BE49-F238E27FC236}">
                <a16:creationId xmlns:a16="http://schemas.microsoft.com/office/drawing/2014/main" id="{E3847ECB-12C5-5988-EF41-3E84433F6832}"/>
              </a:ext>
            </a:extLst>
          </p:cNvPr>
          <p:cNvPicPr>
            <a:picLocks noChangeAspect="1"/>
          </p:cNvPicPr>
          <p:nvPr/>
        </p:nvPicPr>
        <p:blipFill>
          <a:blip r:embed="rId2"/>
          <a:stretch>
            <a:fillRect/>
          </a:stretch>
        </p:blipFill>
        <p:spPr>
          <a:xfrm>
            <a:off x="1905000" y="3306858"/>
            <a:ext cx="5052498" cy="2857748"/>
          </a:xfrm>
          <a:prstGeom prst="rect">
            <a:avLst/>
          </a:prstGeom>
        </p:spPr>
      </p:pic>
    </p:spTree>
    <p:extLst>
      <p:ext uri="{BB962C8B-B14F-4D97-AF65-F5344CB8AC3E}">
        <p14:creationId xmlns:p14="http://schemas.microsoft.com/office/powerpoint/2010/main" val="3385414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82904-7531-7F1F-DBEA-716B34C15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3D62D-0CE7-C429-653C-FF2A998E14C6}"/>
              </a:ext>
            </a:extLst>
          </p:cNvPr>
          <p:cNvSpPr>
            <a:spLocks noGrp="1"/>
          </p:cNvSpPr>
          <p:nvPr>
            <p:ph type="title"/>
          </p:nvPr>
        </p:nvSpPr>
        <p:spPr/>
        <p:txBody>
          <a:bodyPr/>
          <a:lstStyle/>
          <a:p>
            <a:r>
              <a:rPr lang="en-US" dirty="0"/>
              <a:t>3. </a:t>
            </a:r>
            <a:r>
              <a:rPr lang="en-US" dirty="0" err="1"/>
              <a:t>Nguyên</a:t>
            </a:r>
            <a:r>
              <a:rPr lang="en-US" dirty="0"/>
              <a:t> </a:t>
            </a:r>
            <a:r>
              <a:rPr lang="en-US" dirty="0" err="1"/>
              <a:t>tắc</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hàm</a:t>
            </a:r>
            <a:endParaRPr lang="en-US" dirty="0"/>
          </a:p>
        </p:txBody>
      </p:sp>
      <p:sp>
        <p:nvSpPr>
          <p:cNvPr id="3" name="Content Placeholder 2">
            <a:extLst>
              <a:ext uri="{FF2B5EF4-FFF2-40B4-BE49-F238E27FC236}">
                <a16:creationId xmlns:a16="http://schemas.microsoft.com/office/drawing/2014/main" id="{89D5FECC-8376-855B-5EC2-45A6C28A6927}"/>
              </a:ext>
            </a:extLst>
          </p:cNvPr>
          <p:cNvSpPr>
            <a:spLocks noGrp="1"/>
          </p:cNvSpPr>
          <p:nvPr>
            <p:ph idx="1"/>
          </p:nvPr>
        </p:nvSpPr>
        <p:spPr/>
        <p:txBody>
          <a:bodyPr/>
          <a:lstStyle/>
          <a:p>
            <a:r>
              <a:rPr lang="en-US" b="1" i="0" dirty="0" err="1">
                <a:effectLst/>
                <a:latin typeface="system-ui"/>
              </a:rPr>
              <a:t>Khái</a:t>
            </a:r>
            <a:r>
              <a:rPr lang="en-US" b="1" i="0" dirty="0">
                <a:effectLst/>
                <a:latin typeface="system-ui"/>
              </a:rPr>
              <a:t> </a:t>
            </a:r>
            <a:r>
              <a:rPr lang="en-US" b="1" i="0" dirty="0" err="1">
                <a:effectLst/>
                <a:latin typeface="system-ui"/>
              </a:rPr>
              <a:t>niệm</a:t>
            </a:r>
            <a:r>
              <a:rPr lang="en-US" b="1" i="0" dirty="0">
                <a:effectLst/>
                <a:latin typeface="system-ui"/>
              </a:rPr>
              <a:t>:</a:t>
            </a:r>
            <a:r>
              <a:rPr lang="en-US" b="0" i="0" dirty="0">
                <a:effectLst/>
                <a:latin typeface="system-ui"/>
              </a:rPr>
              <a:t> </a:t>
            </a:r>
            <a:r>
              <a:rPr lang="en-US" b="0" i="0" dirty="0" err="1">
                <a:effectLst/>
                <a:latin typeface="system-ui"/>
              </a:rPr>
              <a:t>Hàm</a:t>
            </a:r>
            <a:r>
              <a:rPr lang="en-US" b="0" i="0" dirty="0">
                <a:effectLst/>
                <a:latin typeface="system-ui"/>
              </a:rPr>
              <a:t> </a:t>
            </a:r>
            <a:r>
              <a:rPr lang="en-US" b="0" i="0" dirty="0" err="1">
                <a:effectLst/>
                <a:latin typeface="system-ui"/>
              </a:rPr>
              <a:t>hoạt</a:t>
            </a:r>
            <a:r>
              <a:rPr lang="en-US" b="0" i="0" dirty="0">
                <a:effectLst/>
                <a:latin typeface="system-ui"/>
              </a:rPr>
              <a:t> </a:t>
            </a:r>
            <a:r>
              <a:rPr lang="en-US" b="0" i="0" dirty="0" err="1">
                <a:effectLst/>
                <a:latin typeface="system-ui"/>
              </a:rPr>
              <a:t>động</a:t>
            </a:r>
            <a:r>
              <a:rPr lang="en-US" b="0" i="0" dirty="0">
                <a:effectLst/>
                <a:latin typeface="system-ui"/>
              </a:rPr>
              <a:t> </a:t>
            </a:r>
            <a:r>
              <a:rPr lang="en-US" b="0" i="0" dirty="0" err="1">
                <a:effectLst/>
                <a:latin typeface="system-ui"/>
              </a:rPr>
              <a:t>theo</a:t>
            </a:r>
            <a:r>
              <a:rPr lang="en-US" b="0" i="0" dirty="0">
                <a:effectLst/>
                <a:latin typeface="system-ui"/>
              </a:rPr>
              <a:t> </a:t>
            </a:r>
            <a:r>
              <a:rPr lang="en-US" b="0" i="0" dirty="0" err="1">
                <a:effectLst/>
                <a:latin typeface="system-ui"/>
              </a:rPr>
              <a:t>nguyên</a:t>
            </a:r>
            <a:r>
              <a:rPr lang="en-US" b="0" i="0" dirty="0">
                <a:effectLst/>
                <a:latin typeface="system-ui"/>
              </a:rPr>
              <a:t> </a:t>
            </a:r>
            <a:r>
              <a:rPr lang="en-US" b="0" i="0" dirty="0" err="1">
                <a:effectLst/>
                <a:latin typeface="system-ui"/>
              </a:rPr>
              <a:t>tắc</a:t>
            </a:r>
            <a:r>
              <a:rPr lang="en-US" b="0" i="0" dirty="0">
                <a:effectLst/>
                <a:latin typeface="system-ui"/>
              </a:rPr>
              <a:t> </a:t>
            </a:r>
            <a:r>
              <a:rPr lang="en-US" b="0" i="0" dirty="0" err="1">
                <a:effectLst/>
                <a:latin typeface="system-ui"/>
              </a:rPr>
              <a:t>nhận</a:t>
            </a:r>
            <a:r>
              <a:rPr lang="en-US" b="0" i="0" dirty="0">
                <a:effectLst/>
                <a:latin typeface="system-ui"/>
              </a:rPr>
              <a:t> </a:t>
            </a:r>
            <a:r>
              <a:rPr lang="en-US" b="0" i="0" dirty="0" err="1">
                <a:effectLst/>
                <a:latin typeface="system-ui"/>
              </a:rPr>
              <a:t>đầu</a:t>
            </a:r>
            <a:r>
              <a:rPr lang="en-US" b="0" i="0" dirty="0">
                <a:effectLst/>
                <a:latin typeface="system-ui"/>
              </a:rPr>
              <a:t> </a:t>
            </a:r>
            <a:r>
              <a:rPr lang="en-US" b="0" i="0" dirty="0" err="1">
                <a:effectLst/>
                <a:latin typeface="system-ui"/>
              </a:rPr>
              <a:t>vào</a:t>
            </a:r>
            <a:r>
              <a:rPr lang="en-US" b="0" i="0" dirty="0">
                <a:effectLst/>
                <a:latin typeface="system-ui"/>
              </a:rPr>
              <a:t> (</a:t>
            </a:r>
            <a:r>
              <a:rPr lang="en-US" b="0" i="0" dirty="0" err="1">
                <a:effectLst/>
                <a:latin typeface="system-ui"/>
              </a:rPr>
              <a:t>tham</a:t>
            </a:r>
            <a:r>
              <a:rPr lang="en-US" b="0" i="0" dirty="0">
                <a:effectLst/>
                <a:latin typeface="system-ui"/>
              </a:rPr>
              <a:t> </a:t>
            </a:r>
            <a:r>
              <a:rPr lang="en-US" b="0" i="0" dirty="0" err="1">
                <a:effectLst/>
                <a:latin typeface="system-ui"/>
              </a:rPr>
              <a:t>số</a:t>
            </a:r>
            <a:r>
              <a:rPr lang="en-US" b="0" i="0" dirty="0">
                <a:effectLst/>
                <a:latin typeface="system-ui"/>
              </a:rPr>
              <a:t>), </a:t>
            </a:r>
            <a:r>
              <a:rPr lang="en-US" b="0" i="0" dirty="0" err="1">
                <a:effectLst/>
                <a:latin typeface="system-ui"/>
              </a:rPr>
              <a:t>thực</a:t>
            </a:r>
            <a:r>
              <a:rPr lang="en-US" b="0" i="0" dirty="0">
                <a:effectLst/>
                <a:latin typeface="system-ui"/>
              </a:rPr>
              <a:t> </a:t>
            </a:r>
            <a:r>
              <a:rPr lang="en-US" b="0" i="0" dirty="0" err="1">
                <a:effectLst/>
                <a:latin typeface="system-ui"/>
              </a:rPr>
              <a:t>hiện</a:t>
            </a:r>
            <a:r>
              <a:rPr lang="en-US" b="0" i="0" dirty="0">
                <a:effectLst/>
                <a:latin typeface="system-ui"/>
              </a:rPr>
              <a:t> </a:t>
            </a:r>
            <a:r>
              <a:rPr lang="en-US" b="0" i="0" dirty="0" err="1">
                <a:effectLst/>
                <a:latin typeface="system-ui"/>
              </a:rPr>
              <a:t>các</a:t>
            </a:r>
            <a:r>
              <a:rPr lang="en-US" b="0" i="0" dirty="0">
                <a:effectLst/>
                <a:latin typeface="system-ui"/>
              </a:rPr>
              <a:t> </a:t>
            </a:r>
            <a:r>
              <a:rPr lang="en-US" b="0" i="0" dirty="0" err="1">
                <a:effectLst/>
                <a:latin typeface="system-ui"/>
              </a:rPr>
              <a:t>thao</a:t>
            </a:r>
            <a:r>
              <a:rPr lang="en-US" b="0" i="0" dirty="0">
                <a:effectLst/>
                <a:latin typeface="system-ui"/>
              </a:rPr>
              <a:t> </a:t>
            </a:r>
            <a:r>
              <a:rPr lang="en-US" b="0" i="0" dirty="0" err="1">
                <a:effectLst/>
                <a:latin typeface="system-ui"/>
              </a:rPr>
              <a:t>tác</a:t>
            </a:r>
            <a:r>
              <a:rPr lang="en-US" b="0" i="0" dirty="0">
                <a:effectLst/>
                <a:latin typeface="system-ui"/>
              </a:rPr>
              <a:t> </a:t>
            </a:r>
            <a:r>
              <a:rPr lang="en-US" b="0" i="0" dirty="0" err="1">
                <a:effectLst/>
                <a:latin typeface="system-ui"/>
              </a:rPr>
              <a:t>và</a:t>
            </a:r>
            <a:r>
              <a:rPr lang="en-US" b="0" i="0" dirty="0">
                <a:effectLst/>
                <a:latin typeface="system-ui"/>
              </a:rPr>
              <a:t> </a:t>
            </a:r>
            <a:r>
              <a:rPr lang="en-US" b="0" i="0" dirty="0" err="1">
                <a:effectLst/>
                <a:latin typeface="system-ui"/>
              </a:rPr>
              <a:t>trả</a:t>
            </a:r>
            <a:r>
              <a:rPr lang="en-US" b="0" i="0" dirty="0">
                <a:effectLst/>
                <a:latin typeface="system-ui"/>
              </a:rPr>
              <a:t> </a:t>
            </a:r>
            <a:r>
              <a:rPr lang="en-US" b="0" i="0" dirty="0" err="1">
                <a:effectLst/>
                <a:latin typeface="system-ui"/>
              </a:rPr>
              <a:t>về</a:t>
            </a:r>
            <a:r>
              <a:rPr lang="en-US" b="0" i="0" dirty="0">
                <a:effectLst/>
                <a:latin typeface="system-ui"/>
              </a:rPr>
              <a:t> </a:t>
            </a:r>
            <a:r>
              <a:rPr lang="en-US" b="0" i="0" dirty="0" err="1">
                <a:effectLst/>
                <a:latin typeface="system-ui"/>
              </a:rPr>
              <a:t>kết</a:t>
            </a:r>
            <a:r>
              <a:rPr lang="en-US" b="0" i="0" dirty="0">
                <a:effectLst/>
                <a:latin typeface="system-ui"/>
              </a:rPr>
              <a:t> </a:t>
            </a:r>
            <a:r>
              <a:rPr lang="en-US" b="0" i="0" dirty="0" err="1">
                <a:effectLst/>
                <a:latin typeface="system-ui"/>
              </a:rPr>
              <a:t>quả</a:t>
            </a:r>
            <a:r>
              <a:rPr lang="en-US" b="0" i="0" dirty="0">
                <a:effectLst/>
                <a:latin typeface="system-ui"/>
              </a:rPr>
              <a:t> (</a:t>
            </a:r>
            <a:r>
              <a:rPr lang="en-US" b="0" i="0" dirty="0" err="1">
                <a:effectLst/>
                <a:latin typeface="system-ui"/>
              </a:rPr>
              <a:t>giá</a:t>
            </a:r>
            <a:r>
              <a:rPr lang="en-US" b="0" i="0" dirty="0">
                <a:effectLst/>
                <a:latin typeface="system-ui"/>
              </a:rPr>
              <a:t> </a:t>
            </a:r>
            <a:r>
              <a:rPr lang="en-US" b="0" i="0" dirty="0" err="1">
                <a:effectLst/>
                <a:latin typeface="system-ui"/>
              </a:rPr>
              <a:t>trị</a:t>
            </a:r>
            <a:r>
              <a:rPr lang="en-US" b="0" i="0" dirty="0">
                <a:effectLst/>
                <a:latin typeface="system-ui"/>
              </a:rPr>
              <a:t> </a:t>
            </a:r>
            <a:r>
              <a:rPr lang="en-US" b="0" i="0" dirty="0" err="1">
                <a:effectLst/>
                <a:latin typeface="system-ui"/>
              </a:rPr>
              <a:t>trả</a:t>
            </a:r>
            <a:r>
              <a:rPr lang="en-US" b="0" i="0" dirty="0">
                <a:effectLst/>
                <a:latin typeface="system-ui"/>
              </a:rPr>
              <a:t> </a:t>
            </a:r>
            <a:r>
              <a:rPr lang="en-US" b="0" i="0" dirty="0" err="1">
                <a:effectLst/>
                <a:latin typeface="system-ui"/>
              </a:rPr>
              <a:t>về</a:t>
            </a:r>
            <a:r>
              <a:rPr lang="en-US" b="0" i="0" dirty="0">
                <a:effectLst/>
                <a:latin typeface="system-ui"/>
              </a:rPr>
              <a:t>).</a:t>
            </a:r>
            <a:endParaRPr lang="en-US" dirty="0"/>
          </a:p>
        </p:txBody>
      </p:sp>
      <p:sp>
        <p:nvSpPr>
          <p:cNvPr id="4" name="Slide Number Placeholder 3">
            <a:extLst>
              <a:ext uri="{FF2B5EF4-FFF2-40B4-BE49-F238E27FC236}">
                <a16:creationId xmlns:a16="http://schemas.microsoft.com/office/drawing/2014/main" id="{3493BF52-9DF7-A4E2-EBC7-608C36A0001B}"/>
              </a:ext>
            </a:extLst>
          </p:cNvPr>
          <p:cNvSpPr>
            <a:spLocks noGrp="1"/>
          </p:cNvSpPr>
          <p:nvPr>
            <p:ph type="sldNum" sz="quarter" idx="12"/>
          </p:nvPr>
        </p:nvSpPr>
        <p:spPr/>
        <p:txBody>
          <a:bodyPr/>
          <a:lstStyle/>
          <a:p>
            <a:fld id="{B6F15528-21DE-4FAA-801E-634DDDAF4B2B}" type="slidenum">
              <a:rPr lang="en-VN" smtClean="0"/>
              <a:t>18</a:t>
            </a:fld>
            <a:endParaRPr lang="en-VN"/>
          </a:p>
        </p:txBody>
      </p:sp>
      <p:pic>
        <p:nvPicPr>
          <p:cNvPr id="6" name="Picture 5">
            <a:extLst>
              <a:ext uri="{FF2B5EF4-FFF2-40B4-BE49-F238E27FC236}">
                <a16:creationId xmlns:a16="http://schemas.microsoft.com/office/drawing/2014/main" id="{82276624-38C7-73AC-9199-7F5C26B1F75C}"/>
              </a:ext>
            </a:extLst>
          </p:cNvPr>
          <p:cNvPicPr>
            <a:picLocks noChangeAspect="1"/>
          </p:cNvPicPr>
          <p:nvPr/>
        </p:nvPicPr>
        <p:blipFill>
          <a:blip r:embed="rId2"/>
          <a:stretch>
            <a:fillRect/>
          </a:stretch>
        </p:blipFill>
        <p:spPr>
          <a:xfrm>
            <a:off x="1577080" y="3406346"/>
            <a:ext cx="5989839" cy="2728196"/>
          </a:xfrm>
          <a:prstGeom prst="rect">
            <a:avLst/>
          </a:prstGeom>
        </p:spPr>
      </p:pic>
    </p:spTree>
    <p:extLst>
      <p:ext uri="{BB962C8B-B14F-4D97-AF65-F5344CB8AC3E}">
        <p14:creationId xmlns:p14="http://schemas.microsoft.com/office/powerpoint/2010/main" val="565548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B244-89FE-CAEC-4F33-BAF8606C3287}"/>
              </a:ext>
            </a:extLst>
          </p:cNvPr>
          <p:cNvSpPr>
            <a:spLocks noGrp="1"/>
          </p:cNvSpPr>
          <p:nvPr>
            <p:ph type="title"/>
          </p:nvPr>
        </p:nvSpPr>
        <p:spPr>
          <a:xfrm>
            <a:off x="628650" y="365126"/>
            <a:ext cx="4933950" cy="1325563"/>
          </a:xfrm>
        </p:spPr>
        <p:txBody>
          <a:bodyPr/>
          <a:lstStyle/>
          <a:p>
            <a:r>
              <a:rPr lang="en-US" dirty="0"/>
              <a:t>4. </a:t>
            </a:r>
            <a:r>
              <a:rPr lang="en-US" dirty="0" err="1"/>
              <a:t>Viết</a:t>
            </a:r>
            <a:r>
              <a:rPr lang="en-US" dirty="0"/>
              <a:t> </a:t>
            </a:r>
            <a:r>
              <a:rPr lang="en-US" dirty="0" err="1"/>
              <a:t>tài</a:t>
            </a:r>
            <a:r>
              <a:rPr lang="en-US" dirty="0"/>
              <a:t> </a:t>
            </a:r>
            <a:r>
              <a:rPr lang="en-US" dirty="0" err="1"/>
              <a:t>liệu</a:t>
            </a:r>
            <a:r>
              <a:rPr lang="en-US" dirty="0"/>
              <a:t> </a:t>
            </a:r>
            <a:r>
              <a:rPr lang="en-US" dirty="0" err="1"/>
              <a:t>cho</a:t>
            </a:r>
            <a:r>
              <a:rPr lang="en-US" dirty="0"/>
              <a:t> </a:t>
            </a:r>
            <a:r>
              <a:rPr lang="en-US" dirty="0" err="1"/>
              <a:t>hàm</a:t>
            </a:r>
            <a:endParaRPr lang="en-US" dirty="0"/>
          </a:p>
        </p:txBody>
      </p:sp>
      <p:sp>
        <p:nvSpPr>
          <p:cNvPr id="3" name="Content Placeholder 2">
            <a:extLst>
              <a:ext uri="{FF2B5EF4-FFF2-40B4-BE49-F238E27FC236}">
                <a16:creationId xmlns:a16="http://schemas.microsoft.com/office/drawing/2014/main" id="{07DB65D4-BB59-2EDC-14EE-C5619F47E970}"/>
              </a:ext>
            </a:extLst>
          </p:cNvPr>
          <p:cNvSpPr>
            <a:spLocks noGrp="1"/>
          </p:cNvSpPr>
          <p:nvPr>
            <p:ph idx="1"/>
          </p:nvPr>
        </p:nvSpPr>
        <p:spPr>
          <a:xfrm>
            <a:off x="628650" y="1825625"/>
            <a:ext cx="4400550" cy="4351338"/>
          </a:xfrm>
        </p:spPr>
        <p:txBody>
          <a:bodyPr/>
          <a:lstStyle/>
          <a:p>
            <a:r>
              <a:rPr lang="vi-VN" b="1" i="0" dirty="0">
                <a:effectLst/>
                <a:latin typeface="system-ui"/>
              </a:rPr>
              <a:t>Khái niệm:</a:t>
            </a:r>
            <a:r>
              <a:rPr lang="vi-VN" b="0" i="0" dirty="0">
                <a:effectLst/>
                <a:latin typeface="system-ui"/>
              </a:rPr>
              <a:t> Viết tài liệu cho hàm giúp người khác hiểu rõ mục đích, tham số và giá trị trả về của hàm. Tài liệu thường được viết dưới dạng chuỗi docstring ngay sau định nghĩa hàm.</a:t>
            </a:r>
            <a:endParaRPr lang="en-US" dirty="0"/>
          </a:p>
        </p:txBody>
      </p:sp>
      <p:sp>
        <p:nvSpPr>
          <p:cNvPr id="4" name="Slide Number Placeholder 3">
            <a:extLst>
              <a:ext uri="{FF2B5EF4-FFF2-40B4-BE49-F238E27FC236}">
                <a16:creationId xmlns:a16="http://schemas.microsoft.com/office/drawing/2014/main" id="{6D226718-0965-B5A8-F42B-75BE64DE556C}"/>
              </a:ext>
            </a:extLst>
          </p:cNvPr>
          <p:cNvSpPr>
            <a:spLocks noGrp="1"/>
          </p:cNvSpPr>
          <p:nvPr>
            <p:ph type="sldNum" sz="quarter" idx="12"/>
          </p:nvPr>
        </p:nvSpPr>
        <p:spPr/>
        <p:txBody>
          <a:bodyPr/>
          <a:lstStyle/>
          <a:p>
            <a:fld id="{B6F15528-21DE-4FAA-801E-634DDDAF4B2B}" type="slidenum">
              <a:rPr lang="en-VN" smtClean="0"/>
              <a:t>19</a:t>
            </a:fld>
            <a:endParaRPr lang="en-VN"/>
          </a:p>
        </p:txBody>
      </p:sp>
      <p:pic>
        <p:nvPicPr>
          <p:cNvPr id="6" name="Picture 5">
            <a:extLst>
              <a:ext uri="{FF2B5EF4-FFF2-40B4-BE49-F238E27FC236}">
                <a16:creationId xmlns:a16="http://schemas.microsoft.com/office/drawing/2014/main" id="{C3054FE5-AB77-810D-AD35-1627568F6663}"/>
              </a:ext>
            </a:extLst>
          </p:cNvPr>
          <p:cNvPicPr>
            <a:picLocks noChangeAspect="1"/>
          </p:cNvPicPr>
          <p:nvPr/>
        </p:nvPicPr>
        <p:blipFill>
          <a:blip r:embed="rId2"/>
          <a:stretch>
            <a:fillRect/>
          </a:stretch>
        </p:blipFill>
        <p:spPr>
          <a:xfrm>
            <a:off x="5181602" y="456645"/>
            <a:ext cx="3863675" cy="6401355"/>
          </a:xfrm>
          <a:prstGeom prst="rect">
            <a:avLst/>
          </a:prstGeom>
        </p:spPr>
      </p:pic>
    </p:spTree>
    <p:extLst>
      <p:ext uri="{BB962C8B-B14F-4D97-AF65-F5344CB8AC3E}">
        <p14:creationId xmlns:p14="http://schemas.microsoft.com/office/powerpoint/2010/main" val="406306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33019"/>
            <a:ext cx="8251190" cy="299720"/>
          </a:xfrm>
          <a:prstGeom prst="rect">
            <a:avLst/>
          </a:prstGeom>
        </p:spPr>
        <p:txBody>
          <a:bodyPr vert="horz" wrap="square" lIns="0" tIns="12700" rIns="0" bIns="0" rtlCol="0">
            <a:spAutoFit/>
          </a:bodyPr>
          <a:lstStyle/>
          <a:p>
            <a:pPr marL="12700">
              <a:lnSpc>
                <a:spcPct val="100000"/>
              </a:lnSpc>
              <a:spcBef>
                <a:spcPts val="100"/>
              </a:spcBef>
              <a:tabLst>
                <a:tab pos="4799965" algn="l"/>
              </a:tabLst>
            </a:pPr>
            <a:r>
              <a:rPr sz="1800" spc="-5" dirty="0">
                <a:solidFill>
                  <a:srgbClr val="FFFFFF"/>
                </a:solidFill>
                <a:latin typeface="Georgia"/>
                <a:cs typeface="Georgia"/>
              </a:rPr>
              <a:t>NO </a:t>
            </a:r>
            <a:r>
              <a:rPr sz="1800" dirty="0">
                <a:solidFill>
                  <a:srgbClr val="FFFFFF"/>
                </a:solidFill>
                <a:latin typeface="Georgia"/>
                <a:cs typeface="Georgia"/>
              </a:rPr>
              <a:t>PAIN </a:t>
            </a:r>
            <a:r>
              <a:rPr sz="1800" spc="-5" dirty="0">
                <a:solidFill>
                  <a:srgbClr val="FFFFFF"/>
                </a:solidFill>
                <a:latin typeface="Georgia"/>
                <a:cs typeface="Georgia"/>
              </a:rPr>
              <a:t>NO</a:t>
            </a:r>
            <a:r>
              <a:rPr sz="1800" spc="5" dirty="0">
                <a:solidFill>
                  <a:srgbClr val="FFFFFF"/>
                </a:solidFill>
                <a:latin typeface="Georgia"/>
                <a:cs typeface="Georgia"/>
              </a:rPr>
              <a:t> </a:t>
            </a:r>
            <a:r>
              <a:rPr sz="1800" spc="-5" dirty="0">
                <a:solidFill>
                  <a:srgbClr val="FFFFFF"/>
                </a:solidFill>
                <a:latin typeface="Georgia"/>
                <a:cs typeface="Georgia"/>
              </a:rPr>
              <a:t>GAIN	</a:t>
            </a:r>
            <a:r>
              <a:rPr sz="1800" b="1" spc="-395" dirty="0">
                <a:solidFill>
                  <a:srgbClr val="FFFFFF"/>
                </a:solidFill>
                <a:latin typeface="Georgia"/>
                <a:cs typeface="Georgia"/>
              </a:rPr>
              <a:t>Kỹ </a:t>
            </a:r>
            <a:r>
              <a:rPr sz="1800" b="1" spc="-150" dirty="0">
                <a:solidFill>
                  <a:srgbClr val="FFFFFF"/>
                </a:solidFill>
                <a:latin typeface="Georgia"/>
                <a:cs typeface="Georgia"/>
              </a:rPr>
              <a:t>thuật </a:t>
            </a:r>
            <a:r>
              <a:rPr sz="1800" b="1" spc="-245" dirty="0">
                <a:solidFill>
                  <a:srgbClr val="FFFFFF"/>
                </a:solidFill>
                <a:latin typeface="Georgia"/>
                <a:cs typeface="Georgia"/>
              </a:rPr>
              <a:t>lập </a:t>
            </a:r>
            <a:r>
              <a:rPr sz="1800" b="1" spc="-5" dirty="0">
                <a:solidFill>
                  <a:srgbClr val="FFFFFF"/>
                </a:solidFill>
                <a:latin typeface="Georgia"/>
                <a:cs typeface="Georgia"/>
              </a:rPr>
              <a:t>trình </a:t>
            </a:r>
            <a:r>
              <a:rPr sz="1800" b="1" spc="-130" dirty="0">
                <a:solidFill>
                  <a:srgbClr val="FFFFFF"/>
                </a:solidFill>
                <a:latin typeface="Georgia"/>
                <a:cs typeface="Georgia"/>
              </a:rPr>
              <a:t>với </a:t>
            </a:r>
            <a:r>
              <a:rPr sz="1800" b="1" dirty="0">
                <a:solidFill>
                  <a:srgbClr val="FFFFFF"/>
                </a:solidFill>
                <a:latin typeface="Georgia"/>
                <a:cs typeface="Georgia"/>
              </a:rPr>
              <a:t>Python</a:t>
            </a:r>
            <a:endParaRPr sz="1800">
              <a:latin typeface="Georgia"/>
              <a:cs typeface="Georgia"/>
            </a:endParaRPr>
          </a:p>
        </p:txBody>
      </p:sp>
      <p:sp>
        <p:nvSpPr>
          <p:cNvPr id="3" name="object 3"/>
          <p:cNvSpPr txBox="1">
            <a:spLocks noGrp="1"/>
          </p:cNvSpPr>
          <p:nvPr>
            <p:ph type="title"/>
          </p:nvPr>
        </p:nvSpPr>
        <p:spPr>
          <a:xfrm>
            <a:off x="685800" y="353184"/>
            <a:ext cx="8251190" cy="628377"/>
          </a:xfrm>
          <a:prstGeom prst="rect">
            <a:avLst/>
          </a:prstGeom>
        </p:spPr>
        <p:txBody>
          <a:bodyPr vert="horz" wrap="square" lIns="0" tIns="12700" rIns="0" bIns="0" rtlCol="0">
            <a:spAutoFit/>
          </a:bodyPr>
          <a:lstStyle/>
          <a:p>
            <a:pPr marL="12700">
              <a:lnSpc>
                <a:spcPct val="100000"/>
              </a:lnSpc>
              <a:spcBef>
                <a:spcPts val="100"/>
              </a:spcBef>
            </a:pPr>
            <a:r>
              <a:rPr sz="4000" spc="-5" dirty="0"/>
              <a:t> Một số hàm toán học thông</a:t>
            </a:r>
            <a:r>
              <a:rPr sz="4000" spc="-70" dirty="0"/>
              <a:t> </a:t>
            </a:r>
            <a:r>
              <a:rPr sz="4000" spc="-5" dirty="0"/>
              <a:t>dụng</a:t>
            </a:r>
          </a:p>
        </p:txBody>
      </p:sp>
      <p:sp>
        <p:nvSpPr>
          <p:cNvPr id="8" name="object 8"/>
          <p:cNvSpPr txBox="1"/>
          <p:nvPr/>
        </p:nvSpPr>
        <p:spPr>
          <a:xfrm>
            <a:off x="851146" y="1002007"/>
            <a:ext cx="7681595" cy="5168081"/>
          </a:xfrm>
          <a:prstGeom prst="rect">
            <a:avLst/>
          </a:prstGeom>
        </p:spPr>
        <p:txBody>
          <a:bodyPr vert="horz" wrap="square" lIns="0" tIns="149860" rIns="0" bIns="0" rtlCol="0">
            <a:spAutoFit/>
          </a:bodyPr>
          <a:lstStyle/>
          <a:p>
            <a:pPr marL="160655">
              <a:lnSpc>
                <a:spcPct val="100000"/>
              </a:lnSpc>
              <a:spcBef>
                <a:spcPts val="1180"/>
              </a:spcBef>
            </a:pPr>
            <a:r>
              <a:rPr sz="2400" b="1" dirty="0">
                <a:solidFill>
                  <a:srgbClr val="326064"/>
                </a:solidFill>
                <a:latin typeface="Arial"/>
                <a:cs typeface="Arial"/>
              </a:rPr>
              <a:t>Các </a:t>
            </a:r>
            <a:r>
              <a:rPr sz="2400" b="1" spc="-5" dirty="0">
                <a:solidFill>
                  <a:srgbClr val="326064"/>
                </a:solidFill>
                <a:latin typeface="Arial"/>
                <a:cs typeface="Arial"/>
              </a:rPr>
              <a:t>hàm </a:t>
            </a:r>
            <a:r>
              <a:rPr sz="2400" b="1">
                <a:solidFill>
                  <a:srgbClr val="326064"/>
                </a:solidFill>
                <a:latin typeface="Arial"/>
                <a:cs typeface="Arial"/>
              </a:rPr>
              <a:t>cơ</a:t>
            </a:r>
            <a:r>
              <a:rPr sz="2400" b="1" spc="-25">
                <a:solidFill>
                  <a:srgbClr val="326064"/>
                </a:solidFill>
                <a:latin typeface="Arial"/>
                <a:cs typeface="Arial"/>
              </a:rPr>
              <a:t> </a:t>
            </a:r>
            <a:r>
              <a:rPr sz="2400" b="1" spc="-5">
                <a:solidFill>
                  <a:srgbClr val="326064"/>
                </a:solidFill>
                <a:latin typeface="Arial"/>
                <a:cs typeface="Arial"/>
              </a:rPr>
              <a:t>bản</a:t>
            </a:r>
            <a:endParaRPr sz="2400">
              <a:latin typeface="Arial"/>
              <a:cs typeface="Arial"/>
            </a:endParaRPr>
          </a:p>
          <a:p>
            <a:pPr marL="381000" indent="-342900">
              <a:lnSpc>
                <a:spcPct val="100000"/>
              </a:lnSpc>
              <a:spcBef>
                <a:spcPts val="995"/>
              </a:spcBef>
              <a:buFont typeface="Wingdings"/>
              <a:buChar char=""/>
              <a:tabLst>
                <a:tab pos="381000" algn="l"/>
              </a:tabLst>
            </a:pPr>
            <a:r>
              <a:rPr sz="2200" spc="-5" dirty="0">
                <a:latin typeface="Times New Roman"/>
                <a:cs typeface="Times New Roman"/>
              </a:rPr>
              <a:t>sqrt </a:t>
            </a:r>
            <a:r>
              <a:rPr sz="2200" dirty="0">
                <a:latin typeface="Wingdings"/>
                <a:cs typeface="Wingdings"/>
              </a:rPr>
              <a:t></a:t>
            </a:r>
            <a:r>
              <a:rPr sz="2200" dirty="0">
                <a:latin typeface="Times New Roman"/>
                <a:cs typeface="Times New Roman"/>
              </a:rPr>
              <a:t> </a:t>
            </a:r>
            <a:r>
              <a:rPr sz="2200" spc="-5" dirty="0">
                <a:latin typeface="Times New Roman"/>
                <a:cs typeface="Times New Roman"/>
              </a:rPr>
              <a:t>căn bậc</a:t>
            </a:r>
            <a:r>
              <a:rPr sz="2200" spc="-10" dirty="0">
                <a:latin typeface="Times New Roman"/>
                <a:cs typeface="Times New Roman"/>
              </a:rPr>
              <a:t> </a:t>
            </a:r>
            <a:r>
              <a:rPr sz="2200" dirty="0">
                <a:latin typeface="Times New Roman"/>
                <a:cs typeface="Times New Roman"/>
              </a:rPr>
              <a:t>2</a:t>
            </a:r>
            <a:endParaRPr sz="2200">
              <a:latin typeface="Times New Roman"/>
              <a:cs typeface="Times New Roman"/>
            </a:endParaRPr>
          </a:p>
          <a:p>
            <a:pPr marL="381000" indent="-342900">
              <a:lnSpc>
                <a:spcPct val="100000"/>
              </a:lnSpc>
              <a:spcBef>
                <a:spcPts val="670"/>
              </a:spcBef>
              <a:buFont typeface="Wingdings"/>
              <a:buChar char=""/>
              <a:tabLst>
                <a:tab pos="381000" algn="l"/>
              </a:tabLst>
            </a:pPr>
            <a:r>
              <a:rPr sz="2200" dirty="0">
                <a:latin typeface="Times New Roman"/>
                <a:cs typeface="Times New Roman"/>
              </a:rPr>
              <a:t>pow </a:t>
            </a:r>
            <a:r>
              <a:rPr sz="2200" dirty="0">
                <a:latin typeface="Wingdings"/>
                <a:cs typeface="Wingdings"/>
              </a:rPr>
              <a:t></a:t>
            </a:r>
            <a:r>
              <a:rPr sz="2200" dirty="0">
                <a:latin typeface="Times New Roman"/>
                <a:cs typeface="Times New Roman"/>
              </a:rPr>
              <a:t> lũy</a:t>
            </a:r>
            <a:r>
              <a:rPr sz="2200" spc="-15" dirty="0">
                <a:latin typeface="Times New Roman"/>
                <a:cs typeface="Times New Roman"/>
              </a:rPr>
              <a:t> </a:t>
            </a:r>
            <a:r>
              <a:rPr sz="2200" spc="10" dirty="0">
                <a:latin typeface="Times New Roman"/>
                <a:cs typeface="Times New Roman"/>
              </a:rPr>
              <a:t>thừa</a:t>
            </a:r>
            <a:endParaRPr sz="2200">
              <a:latin typeface="Times New Roman"/>
              <a:cs typeface="Times New Roman"/>
            </a:endParaRPr>
          </a:p>
          <a:p>
            <a:pPr marL="381000" indent="-342900">
              <a:lnSpc>
                <a:spcPct val="100000"/>
              </a:lnSpc>
              <a:spcBef>
                <a:spcPts val="550"/>
              </a:spcBef>
              <a:buFont typeface="Wingdings"/>
              <a:buChar char=""/>
              <a:tabLst>
                <a:tab pos="381000" algn="l"/>
              </a:tabLst>
            </a:pPr>
            <a:r>
              <a:rPr sz="2200" dirty="0">
                <a:latin typeface="Times New Roman"/>
                <a:cs typeface="Times New Roman"/>
              </a:rPr>
              <a:t>log </a:t>
            </a:r>
            <a:r>
              <a:rPr sz="2200" dirty="0">
                <a:latin typeface="Wingdings"/>
                <a:cs typeface="Wingdings"/>
              </a:rPr>
              <a:t></a:t>
            </a:r>
            <a:r>
              <a:rPr sz="2200" dirty="0">
                <a:latin typeface="Times New Roman"/>
                <a:cs typeface="Times New Roman"/>
              </a:rPr>
              <a:t> log(x) = </a:t>
            </a:r>
            <a:r>
              <a:rPr sz="2200" spc="-5" dirty="0">
                <a:latin typeface="Times New Roman"/>
                <a:cs typeface="Times New Roman"/>
              </a:rPr>
              <a:t>log</a:t>
            </a:r>
            <a:r>
              <a:rPr sz="2250" spc="-7" baseline="-18518" dirty="0">
                <a:latin typeface="Times New Roman"/>
                <a:cs typeface="Times New Roman"/>
              </a:rPr>
              <a:t>e</a:t>
            </a:r>
            <a:r>
              <a:rPr sz="2200" spc="-5" dirty="0">
                <a:latin typeface="Times New Roman"/>
                <a:cs typeface="Times New Roman"/>
              </a:rPr>
              <a:t>x </a:t>
            </a:r>
            <a:r>
              <a:rPr sz="2200" dirty="0">
                <a:latin typeface="Times New Roman"/>
                <a:cs typeface="Times New Roman"/>
              </a:rPr>
              <a:t>=</a:t>
            </a:r>
            <a:r>
              <a:rPr sz="2200" spc="-20" dirty="0">
                <a:latin typeface="Times New Roman"/>
                <a:cs typeface="Times New Roman"/>
              </a:rPr>
              <a:t> </a:t>
            </a:r>
            <a:r>
              <a:rPr sz="2200" dirty="0">
                <a:latin typeface="Times New Roman"/>
                <a:cs typeface="Times New Roman"/>
              </a:rPr>
              <a:t>lnx</a:t>
            </a:r>
            <a:endParaRPr sz="2200">
              <a:latin typeface="Times New Roman"/>
              <a:cs typeface="Times New Roman"/>
            </a:endParaRPr>
          </a:p>
          <a:p>
            <a:pPr marL="381000" indent="-342900">
              <a:lnSpc>
                <a:spcPct val="100000"/>
              </a:lnSpc>
              <a:spcBef>
                <a:spcPts val="580"/>
              </a:spcBef>
              <a:buFont typeface="Wingdings"/>
              <a:buChar char=""/>
              <a:tabLst>
                <a:tab pos="381000" algn="l"/>
              </a:tabLst>
            </a:pPr>
            <a:r>
              <a:rPr sz="2200" dirty="0">
                <a:latin typeface="Times New Roman"/>
                <a:cs typeface="Times New Roman"/>
              </a:rPr>
              <a:t>log10 </a:t>
            </a:r>
            <a:r>
              <a:rPr sz="2200" dirty="0">
                <a:latin typeface="Wingdings"/>
                <a:cs typeface="Wingdings"/>
              </a:rPr>
              <a:t></a:t>
            </a:r>
            <a:r>
              <a:rPr sz="2200" spc="-10" dirty="0">
                <a:latin typeface="Times New Roman"/>
                <a:cs typeface="Times New Roman"/>
              </a:rPr>
              <a:t> </a:t>
            </a:r>
            <a:r>
              <a:rPr sz="2200" spc="-5" dirty="0">
                <a:latin typeface="Times New Roman"/>
                <a:cs typeface="Times New Roman"/>
              </a:rPr>
              <a:t>log</a:t>
            </a:r>
            <a:r>
              <a:rPr sz="2250" spc="-7" baseline="-18518" dirty="0">
                <a:latin typeface="Times New Roman"/>
                <a:cs typeface="Times New Roman"/>
              </a:rPr>
              <a:t>10</a:t>
            </a:r>
            <a:r>
              <a:rPr sz="2200" spc="-5" dirty="0">
                <a:latin typeface="Times New Roman"/>
                <a:cs typeface="Times New Roman"/>
              </a:rPr>
              <a:t>x</a:t>
            </a:r>
            <a:endParaRPr sz="2200">
              <a:latin typeface="Times New Roman"/>
              <a:cs typeface="Times New Roman"/>
            </a:endParaRPr>
          </a:p>
          <a:p>
            <a:pPr marL="381000" indent="-342900">
              <a:lnSpc>
                <a:spcPct val="100000"/>
              </a:lnSpc>
              <a:spcBef>
                <a:spcPts val="645"/>
              </a:spcBef>
              <a:buFont typeface="Wingdings"/>
              <a:buChar char=""/>
              <a:tabLst>
                <a:tab pos="381000" algn="l"/>
              </a:tabLst>
            </a:pPr>
            <a:r>
              <a:rPr sz="2200" spc="-5" dirty="0">
                <a:latin typeface="Times New Roman"/>
                <a:cs typeface="Times New Roman"/>
              </a:rPr>
              <a:t>exp </a:t>
            </a:r>
            <a:r>
              <a:rPr sz="2200" dirty="0">
                <a:latin typeface="Wingdings"/>
                <a:cs typeface="Wingdings"/>
              </a:rPr>
              <a:t></a:t>
            </a:r>
            <a:r>
              <a:rPr sz="2200" spc="-10" dirty="0">
                <a:latin typeface="Times New Roman"/>
                <a:cs typeface="Times New Roman"/>
              </a:rPr>
              <a:t> </a:t>
            </a:r>
            <a:r>
              <a:rPr sz="2200" spc="-5" dirty="0">
                <a:latin typeface="Times New Roman"/>
                <a:cs typeface="Times New Roman"/>
              </a:rPr>
              <a:t>e</a:t>
            </a:r>
            <a:r>
              <a:rPr sz="2250" spc="-7" baseline="25925" dirty="0">
                <a:latin typeface="Times New Roman"/>
                <a:cs typeface="Times New Roman"/>
              </a:rPr>
              <a:t>x</a:t>
            </a:r>
            <a:endParaRPr sz="2250" baseline="25925">
              <a:latin typeface="Times New Roman"/>
              <a:cs typeface="Times New Roman"/>
            </a:endParaRPr>
          </a:p>
          <a:p>
            <a:pPr marL="381000" indent="-342900">
              <a:lnSpc>
                <a:spcPct val="100000"/>
              </a:lnSpc>
              <a:spcBef>
                <a:spcPts val="555"/>
              </a:spcBef>
              <a:buFont typeface="Wingdings"/>
              <a:buChar char=""/>
              <a:tabLst>
                <a:tab pos="381000" algn="l"/>
              </a:tabLst>
            </a:pPr>
            <a:r>
              <a:rPr sz="2200" spc="-5" dirty="0">
                <a:latin typeface="Times New Roman"/>
                <a:cs typeface="Times New Roman"/>
              </a:rPr>
              <a:t>degrees </a:t>
            </a:r>
            <a:r>
              <a:rPr sz="2200" dirty="0">
                <a:latin typeface="Wingdings"/>
                <a:cs typeface="Wingdings"/>
              </a:rPr>
              <a:t></a:t>
            </a:r>
            <a:r>
              <a:rPr sz="2200" dirty="0">
                <a:latin typeface="Times New Roman"/>
                <a:cs typeface="Times New Roman"/>
              </a:rPr>
              <a:t> đổi </a:t>
            </a:r>
            <a:r>
              <a:rPr sz="2200" spc="-5" dirty="0">
                <a:latin typeface="Times New Roman"/>
                <a:cs typeface="Times New Roman"/>
              </a:rPr>
              <a:t>radian </a:t>
            </a:r>
            <a:r>
              <a:rPr sz="2200" spc="-5">
                <a:latin typeface="Times New Roman"/>
                <a:cs typeface="Times New Roman"/>
              </a:rPr>
              <a:t>sang</a:t>
            </a:r>
            <a:r>
              <a:rPr sz="2200" spc="-15">
                <a:latin typeface="Times New Roman"/>
                <a:cs typeface="Times New Roman"/>
              </a:rPr>
              <a:t> </a:t>
            </a:r>
            <a:r>
              <a:rPr sz="2200">
                <a:latin typeface="Times New Roman"/>
                <a:cs typeface="Times New Roman"/>
              </a:rPr>
              <a:t>độ</a:t>
            </a:r>
            <a:endParaRPr lang="en-US" sz="2200">
              <a:latin typeface="Times New Roman"/>
              <a:cs typeface="Times New Roman"/>
            </a:endParaRPr>
          </a:p>
          <a:p>
            <a:pPr marL="381000" indent="-342900">
              <a:lnSpc>
                <a:spcPct val="100000"/>
              </a:lnSpc>
              <a:spcBef>
                <a:spcPts val="670"/>
              </a:spcBef>
              <a:buFont typeface="Wingdings"/>
              <a:buChar char=""/>
              <a:tabLst>
                <a:tab pos="381000" algn="l"/>
              </a:tabLst>
            </a:pPr>
            <a:r>
              <a:rPr sz="2200" spc="-5">
                <a:latin typeface="Times New Roman"/>
                <a:cs typeface="Times New Roman"/>
              </a:rPr>
              <a:t>radians </a:t>
            </a:r>
            <a:r>
              <a:rPr sz="2200" dirty="0">
                <a:latin typeface="Wingdings"/>
                <a:cs typeface="Wingdings"/>
              </a:rPr>
              <a:t></a:t>
            </a:r>
            <a:r>
              <a:rPr sz="2200" dirty="0">
                <a:latin typeface="Times New Roman"/>
                <a:cs typeface="Times New Roman"/>
              </a:rPr>
              <a:t> tính </a:t>
            </a:r>
            <a:r>
              <a:rPr sz="2200" spc="-5" dirty="0">
                <a:latin typeface="Times New Roman"/>
                <a:cs typeface="Times New Roman"/>
              </a:rPr>
              <a:t>radian</a:t>
            </a:r>
            <a:r>
              <a:rPr sz="2200" spc="-15" dirty="0">
                <a:latin typeface="Times New Roman"/>
                <a:cs typeface="Times New Roman"/>
              </a:rPr>
              <a:t> </a:t>
            </a:r>
            <a:r>
              <a:rPr sz="2200" dirty="0">
                <a:latin typeface="Times New Roman"/>
                <a:cs typeface="Times New Roman"/>
              </a:rPr>
              <a:t>180/pi*x</a:t>
            </a:r>
            <a:endParaRPr sz="2200">
              <a:latin typeface="Times New Roman"/>
              <a:cs typeface="Times New Roman"/>
            </a:endParaRPr>
          </a:p>
          <a:p>
            <a:pPr marL="381000" indent="-342900">
              <a:lnSpc>
                <a:spcPct val="100000"/>
              </a:lnSpc>
              <a:spcBef>
                <a:spcPts val="550"/>
              </a:spcBef>
              <a:buFont typeface="Wingdings"/>
              <a:buChar char=""/>
              <a:tabLst>
                <a:tab pos="381000" algn="l"/>
              </a:tabLst>
            </a:pPr>
            <a:r>
              <a:rPr sz="2200" spc="-5" dirty="0">
                <a:latin typeface="Times New Roman"/>
                <a:cs typeface="Times New Roman"/>
              </a:rPr>
              <a:t>fabs </a:t>
            </a:r>
            <a:r>
              <a:rPr sz="2200" dirty="0">
                <a:latin typeface="Wingdings"/>
                <a:cs typeface="Wingdings"/>
              </a:rPr>
              <a:t></a:t>
            </a:r>
            <a:r>
              <a:rPr sz="2200" dirty="0">
                <a:latin typeface="Times New Roman"/>
                <a:cs typeface="Times New Roman"/>
              </a:rPr>
              <a:t> trị </a:t>
            </a:r>
            <a:r>
              <a:rPr sz="2200" spc="-5" dirty="0">
                <a:latin typeface="Times New Roman"/>
                <a:cs typeface="Times New Roman"/>
              </a:rPr>
              <a:t>tuyệt</a:t>
            </a:r>
            <a:r>
              <a:rPr sz="2200" spc="-15" dirty="0">
                <a:latin typeface="Times New Roman"/>
                <a:cs typeface="Times New Roman"/>
              </a:rPr>
              <a:t> </a:t>
            </a:r>
            <a:r>
              <a:rPr sz="2200" spc="55" dirty="0">
                <a:latin typeface="Times New Roman"/>
                <a:cs typeface="Times New Roman"/>
              </a:rPr>
              <a:t>đối</a:t>
            </a:r>
            <a:endParaRPr sz="2200">
              <a:latin typeface="Times New Roman"/>
              <a:cs typeface="Times New Roman"/>
            </a:endParaRPr>
          </a:p>
          <a:p>
            <a:pPr marL="381000" indent="-342900">
              <a:lnSpc>
                <a:spcPct val="100000"/>
              </a:lnSpc>
              <a:spcBef>
                <a:spcPts val="580"/>
              </a:spcBef>
              <a:buFont typeface="Wingdings"/>
              <a:buChar char=""/>
              <a:tabLst>
                <a:tab pos="381000" algn="l"/>
              </a:tabLst>
            </a:pPr>
            <a:r>
              <a:rPr sz="2200" dirty="0">
                <a:latin typeface="Times New Roman"/>
                <a:cs typeface="Times New Roman"/>
              </a:rPr>
              <a:t>round </a:t>
            </a:r>
            <a:r>
              <a:rPr sz="2200" dirty="0">
                <a:latin typeface="Wingdings"/>
                <a:cs typeface="Wingdings"/>
              </a:rPr>
              <a:t></a:t>
            </a:r>
            <a:r>
              <a:rPr sz="2200" dirty="0">
                <a:latin typeface="Times New Roman"/>
                <a:cs typeface="Times New Roman"/>
              </a:rPr>
              <a:t> </a:t>
            </a:r>
            <a:r>
              <a:rPr sz="2200" spc="-5" dirty="0">
                <a:latin typeface="Times New Roman"/>
                <a:cs typeface="Times New Roman"/>
              </a:rPr>
              <a:t>làm </a:t>
            </a:r>
            <a:r>
              <a:rPr sz="2200" dirty="0">
                <a:latin typeface="Times New Roman"/>
                <a:cs typeface="Times New Roman"/>
              </a:rPr>
              <a:t>tròn</a:t>
            </a:r>
            <a:r>
              <a:rPr sz="2200" spc="-5" dirty="0">
                <a:latin typeface="Times New Roman"/>
                <a:cs typeface="Times New Roman"/>
              </a:rPr>
              <a:t> </a:t>
            </a:r>
            <a:r>
              <a:rPr sz="2200" spc="80" dirty="0">
                <a:latin typeface="Times New Roman"/>
                <a:cs typeface="Times New Roman"/>
              </a:rPr>
              <a:t>số</a:t>
            </a:r>
            <a:endParaRPr sz="2200">
              <a:latin typeface="Times New Roman"/>
              <a:cs typeface="Times New Roman"/>
            </a:endParaRPr>
          </a:p>
          <a:p>
            <a:pPr marL="381000" indent="-342900">
              <a:lnSpc>
                <a:spcPct val="100000"/>
              </a:lnSpc>
              <a:spcBef>
                <a:spcPts val="645"/>
              </a:spcBef>
              <a:buFont typeface="Wingdings"/>
              <a:buChar char=""/>
              <a:tabLst>
                <a:tab pos="381000" algn="l"/>
              </a:tabLst>
            </a:pPr>
            <a:r>
              <a:rPr sz="2200" spc="-5" dirty="0">
                <a:latin typeface="Times New Roman"/>
                <a:cs typeface="Times New Roman"/>
              </a:rPr>
              <a:t>randrange(start, stop, [step]) </a:t>
            </a:r>
            <a:r>
              <a:rPr sz="2200" dirty="0">
                <a:latin typeface="Wingdings"/>
                <a:cs typeface="Wingdings"/>
              </a:rPr>
              <a:t></a:t>
            </a:r>
            <a:r>
              <a:rPr sz="2200" dirty="0">
                <a:latin typeface="Times New Roman"/>
                <a:cs typeface="Times New Roman"/>
              </a:rPr>
              <a:t> </a:t>
            </a:r>
            <a:r>
              <a:rPr sz="2200" spc="-5" dirty="0">
                <a:latin typeface="Times New Roman"/>
                <a:cs typeface="Times New Roman"/>
              </a:rPr>
              <a:t>sinh </a:t>
            </a:r>
            <a:r>
              <a:rPr sz="2200" spc="80" dirty="0">
                <a:latin typeface="Times New Roman"/>
                <a:cs typeface="Times New Roman"/>
              </a:rPr>
              <a:t>số </a:t>
            </a:r>
            <a:r>
              <a:rPr sz="2200" spc="-5" dirty="0">
                <a:latin typeface="Times New Roman"/>
                <a:cs typeface="Times New Roman"/>
              </a:rPr>
              <a:t>ngẫu nhiên </a:t>
            </a:r>
            <a:r>
              <a:rPr sz="2200" spc="-830" dirty="0">
                <a:latin typeface="WenQuanYi Micro Hei"/>
                <a:cs typeface="WenQuanYi Micro Hei"/>
              </a:rPr>
              <a:t>∈</a:t>
            </a:r>
            <a:r>
              <a:rPr sz="2200" spc="-15" dirty="0">
                <a:latin typeface="WenQuanYi Micro Hei"/>
                <a:cs typeface="WenQuanYi Micro Hei"/>
              </a:rPr>
              <a:t> </a:t>
            </a:r>
            <a:r>
              <a:rPr sz="2200" spc="-5" dirty="0">
                <a:latin typeface="Times New Roman"/>
                <a:cs typeface="Times New Roman"/>
              </a:rPr>
              <a:t>[start,</a:t>
            </a:r>
            <a:r>
              <a:rPr sz="2200" spc="-10" dirty="0">
                <a:latin typeface="Times New Roman"/>
                <a:cs typeface="Times New Roman"/>
              </a:rPr>
              <a:t> </a:t>
            </a:r>
            <a:r>
              <a:rPr sz="2200" spc="-5" dirty="0">
                <a:latin typeface="Times New Roman"/>
                <a:cs typeface="Times New Roman"/>
              </a:rPr>
              <a:t>stop)</a:t>
            </a:r>
            <a:endParaRPr sz="2200">
              <a:latin typeface="Times New Roman"/>
              <a:cs typeface="Times New Roman"/>
            </a:endParaRPr>
          </a:p>
          <a:p>
            <a:pPr marL="381000" indent="-342900">
              <a:lnSpc>
                <a:spcPct val="100000"/>
              </a:lnSpc>
              <a:spcBef>
                <a:spcPts val="555"/>
              </a:spcBef>
              <a:buFont typeface="Wingdings"/>
              <a:buChar char=""/>
              <a:tabLst>
                <a:tab pos="381000" algn="l"/>
              </a:tabLst>
            </a:pPr>
            <a:r>
              <a:rPr sz="2200" spc="-5" dirty="0">
                <a:latin typeface="Times New Roman"/>
                <a:cs typeface="Times New Roman"/>
              </a:rPr>
              <a:t>randint(a, </a:t>
            </a:r>
            <a:r>
              <a:rPr sz="2200" dirty="0">
                <a:latin typeface="Times New Roman"/>
                <a:cs typeface="Times New Roman"/>
              </a:rPr>
              <a:t>b) </a:t>
            </a:r>
            <a:r>
              <a:rPr sz="2200" dirty="0">
                <a:latin typeface="Wingdings"/>
                <a:cs typeface="Wingdings"/>
              </a:rPr>
              <a:t></a:t>
            </a:r>
            <a:r>
              <a:rPr sz="2200" dirty="0">
                <a:latin typeface="Times New Roman"/>
                <a:cs typeface="Times New Roman"/>
              </a:rPr>
              <a:t> </a:t>
            </a:r>
            <a:r>
              <a:rPr sz="2200" spc="-5" dirty="0">
                <a:latin typeface="Times New Roman"/>
                <a:cs typeface="Times New Roman"/>
              </a:rPr>
              <a:t>sinh </a:t>
            </a:r>
            <a:r>
              <a:rPr sz="2200" spc="80" dirty="0">
                <a:latin typeface="Times New Roman"/>
                <a:cs typeface="Times New Roman"/>
              </a:rPr>
              <a:t>số </a:t>
            </a:r>
            <a:r>
              <a:rPr sz="2200" spc="-5" dirty="0">
                <a:latin typeface="Times New Roman"/>
                <a:cs typeface="Times New Roman"/>
              </a:rPr>
              <a:t>ngẫu nhiên </a:t>
            </a:r>
            <a:r>
              <a:rPr sz="2200" spc="-830" dirty="0">
                <a:latin typeface="WenQuanYi Micro Hei"/>
                <a:cs typeface="WenQuanYi Micro Hei"/>
              </a:rPr>
              <a:t>∈</a:t>
            </a:r>
            <a:r>
              <a:rPr sz="2200" spc="-20" dirty="0">
                <a:latin typeface="WenQuanYi Micro Hei"/>
                <a:cs typeface="WenQuanYi Micro Hei"/>
              </a:rPr>
              <a:t> </a:t>
            </a:r>
            <a:r>
              <a:rPr sz="2200" spc="-5" dirty="0">
                <a:latin typeface="Times New Roman"/>
                <a:cs typeface="Times New Roman"/>
              </a:rPr>
              <a:t>[a,</a:t>
            </a:r>
            <a:r>
              <a:rPr sz="2200" spc="-75" dirty="0">
                <a:latin typeface="Times New Roman"/>
                <a:cs typeface="Times New Roman"/>
              </a:rPr>
              <a:t> </a:t>
            </a:r>
            <a:r>
              <a:rPr sz="2200" dirty="0">
                <a:latin typeface="Times New Roman"/>
                <a:cs typeface="Times New Roman"/>
              </a:rPr>
              <a:t>b]</a:t>
            </a:r>
            <a:endParaRPr sz="2200">
              <a:latin typeface="Times New Roman"/>
              <a:cs typeface="Times New Roman"/>
            </a:endParaRPr>
          </a:p>
        </p:txBody>
      </p:sp>
    </p:spTree>
    <p:extLst>
      <p:ext uri="{BB962C8B-B14F-4D97-AF65-F5344CB8AC3E}">
        <p14:creationId xmlns:p14="http://schemas.microsoft.com/office/powerpoint/2010/main" val="3248862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838200" y="2761555"/>
            <a:ext cx="6781800" cy="936154"/>
          </a:xfrm>
          <a:prstGeom prst="rect">
            <a:avLst/>
          </a:prstGeom>
        </p:spPr>
        <p:txBody>
          <a:bodyPr vert="horz" wrap="square" lIns="0" tIns="12700" rIns="0" bIns="0" rtlCol="0">
            <a:spAutoFit/>
          </a:bodyPr>
          <a:lstStyle/>
          <a:p>
            <a:pPr marL="12700" algn="ctr">
              <a:lnSpc>
                <a:spcPct val="100000"/>
              </a:lnSpc>
              <a:spcBef>
                <a:spcPts val="100"/>
              </a:spcBef>
            </a:pPr>
            <a:r>
              <a:rPr lang="vi-VN" sz="6000" b="1" spc="-5" dirty="0">
                <a:solidFill>
                  <a:srgbClr val="326064"/>
                </a:solidFill>
                <a:latin typeface="Arial"/>
                <a:cs typeface="Arial"/>
              </a:rPr>
              <a:t>QA</a:t>
            </a:r>
            <a:endParaRPr lang="vi-VN" sz="6000" b="1" u="sng" spc="-5" dirty="0">
              <a:solidFill>
                <a:srgbClr val="326064"/>
              </a:solidFill>
              <a:latin typeface="Arial"/>
              <a:cs typeface="Arial"/>
            </a:endParaRPr>
          </a:p>
        </p:txBody>
      </p:sp>
      <p:grpSp>
        <p:nvGrpSpPr>
          <p:cNvPr id="9" name="object 9"/>
          <p:cNvGrpSpPr/>
          <p:nvPr/>
        </p:nvGrpSpPr>
        <p:grpSpPr>
          <a:xfrm>
            <a:off x="2228062" y="4150547"/>
            <a:ext cx="356873" cy="160658"/>
            <a:chOff x="2228062" y="4150547"/>
            <a:chExt cx="356873" cy="160658"/>
          </a:xfrm>
        </p:grpSpPr>
        <p:sp>
          <p:nvSpPr>
            <p:cNvPr id="11" name="object 11"/>
            <p:cNvSpPr/>
            <p:nvPr/>
          </p:nvSpPr>
          <p:spPr>
            <a:xfrm>
              <a:off x="2228062" y="4150550"/>
              <a:ext cx="356870" cy="160655"/>
            </a:xfrm>
            <a:custGeom>
              <a:avLst/>
              <a:gdLst/>
              <a:ahLst/>
              <a:cxnLst/>
              <a:rect l="l" t="t" r="r" b="b"/>
              <a:pathLst>
                <a:path w="356869" h="160654">
                  <a:moveTo>
                    <a:pt x="92075" y="0"/>
                  </a:moveTo>
                  <a:lnTo>
                    <a:pt x="0" y="68135"/>
                  </a:lnTo>
                  <a:lnTo>
                    <a:pt x="68135" y="160210"/>
                  </a:lnTo>
                  <a:lnTo>
                    <a:pt x="74117" y="120154"/>
                  </a:lnTo>
                  <a:lnTo>
                    <a:pt x="344779" y="160604"/>
                  </a:lnTo>
                  <a:lnTo>
                    <a:pt x="356755" y="80505"/>
                  </a:lnTo>
                  <a:lnTo>
                    <a:pt x="86093" y="40055"/>
                  </a:lnTo>
                  <a:lnTo>
                    <a:pt x="92075" y="0"/>
                  </a:lnTo>
                  <a:close/>
                </a:path>
              </a:pathLst>
            </a:custGeom>
            <a:solidFill>
              <a:srgbClr val="FFFFFF"/>
            </a:solidFill>
          </p:spPr>
          <p:txBody>
            <a:bodyPr wrap="square" lIns="0" tIns="0" rIns="0" bIns="0" rtlCol="0"/>
            <a:lstStyle/>
            <a:p>
              <a:endParaRPr/>
            </a:p>
          </p:txBody>
        </p:sp>
        <p:sp>
          <p:nvSpPr>
            <p:cNvPr id="12" name="object 12"/>
            <p:cNvSpPr/>
            <p:nvPr/>
          </p:nvSpPr>
          <p:spPr>
            <a:xfrm>
              <a:off x="2228065" y="4150547"/>
              <a:ext cx="356870" cy="160655"/>
            </a:xfrm>
            <a:custGeom>
              <a:avLst/>
              <a:gdLst/>
              <a:ahLst/>
              <a:cxnLst/>
              <a:rect l="l" t="t" r="r" b="b"/>
              <a:pathLst>
                <a:path w="356869" h="160654">
                  <a:moveTo>
                    <a:pt x="0" y="68132"/>
                  </a:moveTo>
                  <a:lnTo>
                    <a:pt x="92077" y="0"/>
                  </a:lnTo>
                  <a:lnTo>
                    <a:pt x="86091" y="40052"/>
                  </a:lnTo>
                  <a:lnTo>
                    <a:pt x="356749" y="80506"/>
                  </a:lnTo>
                  <a:lnTo>
                    <a:pt x="344776" y="160611"/>
                  </a:lnTo>
                  <a:lnTo>
                    <a:pt x="74118" y="120158"/>
                  </a:lnTo>
                  <a:lnTo>
                    <a:pt x="68132" y="160210"/>
                  </a:lnTo>
                  <a:lnTo>
                    <a:pt x="0" y="68132"/>
                  </a:lnTo>
                  <a:close/>
                </a:path>
              </a:pathLst>
            </a:custGeom>
            <a:ln w="19049">
              <a:solidFill>
                <a:srgbClr val="FFFFFF"/>
              </a:solidFill>
            </a:ln>
          </p:spPr>
          <p:txBody>
            <a:bodyPr wrap="square" lIns="0" tIns="0" rIns="0" bIns="0" rtlCol="0"/>
            <a:lstStyle/>
            <a:p>
              <a:endParaRPr/>
            </a:p>
          </p:txBody>
        </p:sp>
      </p:grpSp>
      <p:sp>
        <p:nvSpPr>
          <p:cNvPr id="2" name="Rectangle 1">
            <a:extLst>
              <a:ext uri="{FF2B5EF4-FFF2-40B4-BE49-F238E27FC236}">
                <a16:creationId xmlns:a16="http://schemas.microsoft.com/office/drawing/2014/main" id="{020704B0-6687-3F45-83A3-EC8D891962CD}"/>
              </a:ext>
            </a:extLst>
          </p:cNvPr>
          <p:cNvSpPr/>
          <p:nvPr/>
        </p:nvSpPr>
        <p:spPr>
          <a:xfrm>
            <a:off x="3200400" y="685800"/>
            <a:ext cx="1863395" cy="430887"/>
          </a:xfrm>
          <a:prstGeom prst="rect">
            <a:avLst/>
          </a:prstGeom>
        </p:spPr>
        <p:txBody>
          <a:bodyPr wrap="none">
            <a:spAutoFit/>
          </a:bodyPr>
          <a:lstStyle/>
          <a:p>
            <a:pPr marL="12700">
              <a:lnSpc>
                <a:spcPct val="100000"/>
              </a:lnSpc>
              <a:spcBef>
                <a:spcPts val="100"/>
              </a:spcBef>
            </a:pPr>
            <a:r>
              <a:rPr lang="vi-VN" sz="2200" b="1" u="sng" spc="-5" dirty="0">
                <a:solidFill>
                  <a:srgbClr val="326064"/>
                </a:solidFill>
                <a:latin typeface="Arial"/>
                <a:cs typeface="Arial"/>
              </a:rPr>
              <a:t>THANK YOU</a:t>
            </a:r>
          </a:p>
        </p:txBody>
      </p:sp>
    </p:spTree>
    <p:extLst>
      <p:ext uri="{BB962C8B-B14F-4D97-AF65-F5344CB8AC3E}">
        <p14:creationId xmlns:p14="http://schemas.microsoft.com/office/powerpoint/2010/main" val="36575539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1957</TotalTime>
  <Words>749</Words>
  <Application>Microsoft Office PowerPoint</Application>
  <PresentationFormat>On-screen Show (4:3)</PresentationFormat>
  <Paragraphs>88</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-apple-system</vt:lpstr>
      <vt:lpstr>Arial</vt:lpstr>
      <vt:lpstr>Arial (Body)</vt:lpstr>
      <vt:lpstr>Calibri</vt:lpstr>
      <vt:lpstr>Georgia</vt:lpstr>
      <vt:lpstr>system-ui</vt:lpstr>
      <vt:lpstr>Times New Roman</vt:lpstr>
      <vt:lpstr>WenQuanYi Micro Hei</vt:lpstr>
      <vt:lpstr>Wingdings</vt:lpstr>
      <vt:lpstr>Office Theme</vt:lpstr>
      <vt:lpstr>CHỦ ĐỀ 2 LẬP TRÌNH VỚI PYTHON</vt:lpstr>
      <vt:lpstr>PowerPoint Presentation</vt:lpstr>
      <vt:lpstr>1. Biểu thức Boolean trong Python</vt:lpstr>
      <vt:lpstr>2: Các cấu trúc điều kiện</vt:lpstr>
      <vt:lpstr>3. Câu lệnh pass</vt:lpstr>
      <vt:lpstr>4. So sánh số thực và sử dụng if/else như phép gán</vt:lpstr>
      <vt:lpstr>5. Các cấu trúc lặp Vòng while</vt:lpstr>
      <vt:lpstr>6. Các cấu trúc lặp Vòng for</vt:lpstr>
      <vt:lpstr>7. Các câu lệnh break – continue</vt:lpstr>
      <vt:lpstr>7. Câu lệnh “break” và “continue” </vt:lpstr>
      <vt:lpstr>8. Cấu trúc while/else và for/else</vt:lpstr>
      <vt:lpstr>9. Vòng lặp lồng nhau</vt:lpstr>
      <vt:lpstr>PowerPoint Presentation</vt:lpstr>
      <vt:lpstr>CHỦ ĐỀ 3 KHÁI NIỆM HÀM VÀ CÁC HÀM</vt:lpstr>
      <vt:lpstr>PowerPoint Presentation</vt:lpstr>
      <vt:lpstr>1. Khái niệm về hàm¶</vt:lpstr>
      <vt:lpstr>2. Cách gọi hàm</vt:lpstr>
      <vt:lpstr>3. Nguyên tắc hoạt động của hàm</vt:lpstr>
      <vt:lpstr>4. Viết tài liệu cho hàm</vt:lpstr>
      <vt:lpstr> Một số hàm toán học thông dụng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B1-KhaiQuatVePythonVaThietLapMoiTruongLapTrinh</dc:title>
  <dc:creator>Tuan Nguyen</dc:creator>
  <cp:lastModifiedBy>Tom Tran</cp:lastModifiedBy>
  <cp:revision>67</cp:revision>
  <dcterms:created xsi:type="dcterms:W3CDTF">2021-08-14T11:24:18Z</dcterms:created>
  <dcterms:modified xsi:type="dcterms:W3CDTF">2024-11-19T04:27:23Z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2021-01-24T00:00:00Z</vt:filetime>
  </property>
  <property fmtid="{D5CDD505-2E9C-101B-9397-08002B2CF9AE}" pid="3" name="Creator">
    <vt:lpwstr>PowerPoint</vt:lpwstr>
  </property>
  <property fmtid="{D5CDD505-2E9C-101B-9397-08002B2CF9AE}" pid="4" name="LastSaved">
    <vt:filetime>2021-08-14T00:00:00Z</vt:filetime>
  </property>
</Properties>
</file>