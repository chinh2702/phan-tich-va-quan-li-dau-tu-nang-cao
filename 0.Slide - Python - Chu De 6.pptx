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1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00068-83D9-AFF5-E2DC-2E4280554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42FBD-44C2-CCA8-CE02-D858A034B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BD519-974A-3136-3FB9-A37C956B4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9D83-2C26-4F38-8371-FA5561C0612F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10253-6727-E28A-BE63-16ED97DFB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71FFF-224B-12BD-48B9-B26F2A7D8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672B-BB67-4F07-B6DD-FB5908311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505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6AC46-7C3A-86FF-63B0-6113313DB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C033B-CB2E-8C41-2EE0-E16030156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F105D-6C06-475A-8FE3-8DEA63E27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9D83-2C26-4F38-8371-FA5561C0612F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AFE1D-755A-63D7-B836-7A541ED81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AE2B4-5CFE-F78A-6F32-37922702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672B-BB67-4F07-B6DD-FB5908311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04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5F919-9634-5D05-8780-5D24BAF65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A06C0-19B0-FD64-0644-1156A5687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F83BD-739F-2460-DAEC-F71CDA4CA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9D83-2C26-4F38-8371-FA5561C0612F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A011C-670D-1AF0-35DF-E7BA9B28B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62384-B546-3DFB-EA12-775B5AAFA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672B-BB67-4F07-B6DD-FB5908311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56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808D3-92A3-6022-0ADA-70A805582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EC3F3-922B-59D2-6F93-E073C9477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DB9AC8-CAC0-2095-438C-C3D80EC98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CD8B2-4725-E810-FD1F-5622D7EC2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9D83-2C26-4F38-8371-FA5561C0612F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A27D5-6E50-BB79-A2B0-E5B3165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898FD-8544-D61A-BADB-CF5336E7E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672B-BB67-4F07-B6DD-FB5908311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338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8C2B5-E3BE-E4AD-8504-CC1579532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F4C86-67CE-A866-CB6E-727FB04AB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81870B-75BF-D64A-41E8-F2CA2F007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EC9DDD-5B50-0D4D-EC56-194730DE9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262ED2-D87E-B815-13D5-4DB48F78AE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A171F0-D586-CC95-095E-9268EC612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9D83-2C26-4F38-8371-FA5561C0612F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F0420A-7782-828A-126A-18E454BFF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7D969D-39A7-3A5B-56AE-EAAC770ED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672B-BB67-4F07-B6DD-FB5908311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75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7DFB5-C801-EAC1-D96B-3B4DF7226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E5A09C-CD9D-6B1D-1738-188CE75AB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9D83-2C26-4F38-8371-FA5561C0612F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0AF0E-D2F0-40E4-5378-BEC18FB51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6ED4A-6926-10A7-693C-5ED12B19F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672B-BB67-4F07-B6DD-FB5908311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98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DBB3C-733B-9EA2-2B42-667F82290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9D83-2C26-4F38-8371-FA5561C0612F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1401E-BB45-A335-65D6-D8595E5E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9AE95-DB2F-AE8A-D0C8-0918BB956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672B-BB67-4F07-B6DD-FB5908311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89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F5412-16F5-4658-C4FF-57517FF3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56A10-88DD-D9AD-F01C-D9A0F2B4C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F19C4-4AD0-A55C-2A8F-12C7160EB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F5086-0C96-E871-2F1F-E3EC6D98A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9D83-2C26-4F38-8371-FA5561C0612F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5C98B-5B95-9A75-F24C-C2103C6A6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8C165-9A5F-7EC2-C82A-D110A4EA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672B-BB67-4F07-B6DD-FB5908311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3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31C3-49EF-72C3-BCBB-F36057BA3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0483C2-AFC6-298B-7B0F-648C702F53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D85985-7D8D-2C41-20C0-C222DB554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30C17-89CD-0C2C-934C-1EC49BAA2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9D83-2C26-4F38-8371-FA5561C0612F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864E3-C20B-1FAE-D9E7-3992EB2D5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D4ED9-222F-8420-5A82-EE419D1D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672B-BB67-4F07-B6DD-FB5908311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882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4EF4C-B326-8A9A-073A-1A7A2336C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5ECBB5-195B-B9AA-83D7-25509FB6F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4F988-B1AF-E64D-6ADC-47D369450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9D83-2C26-4F38-8371-FA5561C0612F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FE16-22AD-F03D-1B18-0F017CEF3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C0E0F-7802-5220-2A9E-B52601154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672B-BB67-4F07-B6DD-FB5908311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078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FA8A70-CA89-B11A-C22D-A261E13C52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014D1D-7CEA-2A11-130D-E0CBB52F8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79CA9-55F6-724E-5B9A-86125B23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9D83-2C26-4F38-8371-FA5561C0612F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18D6A-07E3-3A35-FDD7-A264076A2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366E7-12C8-580C-5E6B-79836E3E4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672B-BB67-4F07-B6DD-FB5908311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48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640B5-79E6-4C72-3086-2000F5CA3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F7818-0C2A-0CE5-6CD6-BD0DF9321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5A05A-EDB8-3D7F-F34E-643601164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09D83-2C26-4F38-8371-FA5561C0612F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80D18-F6B0-EAA1-34F7-766EA5830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4EABC-1CC3-350C-3E19-93C98BE61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8672B-BB67-4F07-B6DD-FB5908311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4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286000" y="1707700"/>
            <a:ext cx="7467600" cy="1754135"/>
          </a:xfrm>
          <a:prstGeom prst="rect">
            <a:avLst/>
          </a:prstGeom>
        </p:spPr>
        <p:txBody>
          <a:bodyPr vert="horz" wrap="square" lIns="0" tIns="15875" rIns="0" bIns="0" rtlCol="0" anchor="ctr">
            <a:spAutoFit/>
          </a:bodyPr>
          <a:lstStyle/>
          <a:p>
            <a:pPr marL="385445" marR="5080" indent="-373380" algn="ctr">
              <a:lnSpc>
                <a:spcPct val="150000"/>
              </a:lnSpc>
              <a:spcBef>
                <a:spcPts val="125"/>
              </a:spcBef>
            </a:pPr>
            <a:r>
              <a:rPr lang="vi-VN" sz="3600" b="1" dirty="0"/>
              <a:t>CHỦ ĐỀ </a:t>
            </a:r>
            <a:r>
              <a:rPr lang="en-US" sz="3600" b="1" dirty="0"/>
              <a:t>6</a:t>
            </a:r>
            <a:br>
              <a:rPr lang="vi-VN" b="1" dirty="0"/>
            </a:br>
            <a:r>
              <a:rPr lang="en-US" b="1" dirty="0"/>
              <a:t>Scikit-Learn</a:t>
            </a:r>
            <a:endParaRPr lang="vi-VN" sz="40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C2246C-53C2-43E6-BA6A-D30EB652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VN" smtClean="0"/>
              <a:t>1</a:t>
            </a:fld>
            <a:endParaRPr lang="en-V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EBD7-065B-2993-ACBE-5023CC047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11111"/>
                </a:solidFill>
                <a:latin typeface="-apple-system"/>
              </a:rPr>
              <a:t>S</a:t>
            </a:r>
            <a:r>
              <a:rPr lang="vi-VN" b="1" i="0" dirty="0">
                <a:solidFill>
                  <a:srgbClr val="111111"/>
                </a:solidFill>
                <a:effectLst/>
                <a:latin typeface="-apple-system"/>
              </a:rPr>
              <a:t>cikit-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L</a:t>
            </a:r>
            <a:r>
              <a:rPr lang="vi-VN" b="1" i="0" dirty="0">
                <a:solidFill>
                  <a:srgbClr val="111111"/>
                </a:solidFill>
                <a:effectLst/>
                <a:latin typeface="-apple-system"/>
              </a:rPr>
              <a:t>earn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E94BD-3E34-201C-4390-6CA601F8E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b="1" i="0" dirty="0">
                <a:solidFill>
                  <a:srgbClr val="111111"/>
                </a:solidFill>
                <a:effectLst/>
                <a:latin typeface="-apple-system"/>
              </a:rPr>
              <a:t>scikit-learn là gì?</a:t>
            </a:r>
            <a:endParaRPr lang="vi-VN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lvl="1" algn="l">
              <a:buFont typeface="Wingdings" panose="05000000000000000000" pitchFamily="2" charset="2"/>
              <a:buChar char="ü"/>
            </a:pPr>
            <a:r>
              <a:rPr lang="vi-VN" b="0" i="0" dirty="0">
                <a:solidFill>
                  <a:srgbClr val="111111"/>
                </a:solidFill>
                <a:effectLst/>
                <a:latin typeface="-apple-system"/>
              </a:rPr>
              <a:t>scikit-learn là một thư viện mã nguồn mở cho học máy trong Python.</a:t>
            </a:r>
          </a:p>
          <a:p>
            <a:pPr lvl="1" algn="l">
              <a:buFont typeface="Wingdings" panose="05000000000000000000" pitchFamily="2" charset="2"/>
              <a:buChar char="ü"/>
            </a:pPr>
            <a:r>
              <a:rPr lang="vi-VN" b="0" i="0" dirty="0">
                <a:solidFill>
                  <a:srgbClr val="111111"/>
                </a:solidFill>
                <a:effectLst/>
                <a:latin typeface="-apple-system"/>
              </a:rPr>
              <a:t>Được xây dựng trên các thư viện NumPy, SciPy và matplotlib.</a:t>
            </a:r>
          </a:p>
          <a:p>
            <a:r>
              <a:rPr lang="vi-VN" b="1" i="0" dirty="0">
                <a:solidFill>
                  <a:srgbClr val="111111"/>
                </a:solidFill>
                <a:effectLst/>
                <a:latin typeface="-apple-system"/>
              </a:rPr>
              <a:t>Các tính năng chính:</a:t>
            </a:r>
            <a:endParaRPr lang="vi-VN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vi-VN" b="1" i="0" dirty="0">
                <a:solidFill>
                  <a:srgbClr val="111111"/>
                </a:solidFill>
                <a:effectLst/>
                <a:latin typeface="-apple-system"/>
              </a:rPr>
              <a:t>Tiền xử lý dữ liệu:</a:t>
            </a:r>
            <a:r>
              <a:rPr lang="vi-VN" b="0" i="0" dirty="0">
                <a:solidFill>
                  <a:srgbClr val="111111"/>
                </a:solidFill>
                <a:effectLst/>
                <a:latin typeface="-apple-system"/>
              </a:rPr>
              <a:t> Các công cụ để chuẩn hóa, chuẩn hóa và xử lý dữ liệu thiếu.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vi-VN" b="1" i="0" dirty="0">
                <a:solidFill>
                  <a:srgbClr val="111111"/>
                </a:solidFill>
                <a:effectLst/>
                <a:latin typeface="-apple-system"/>
              </a:rPr>
              <a:t>Các thuật toán học máy:</a:t>
            </a:r>
            <a:r>
              <a:rPr lang="vi-VN" b="0" i="0" dirty="0">
                <a:solidFill>
                  <a:srgbClr val="111111"/>
                </a:solidFill>
                <a:effectLst/>
                <a:latin typeface="-apple-system"/>
              </a:rPr>
              <a:t> Bao gồm phân loại, hồi quy, clustering, và giảm chiều.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vi-VN" b="1" i="0" dirty="0">
                <a:solidFill>
                  <a:srgbClr val="111111"/>
                </a:solidFill>
                <a:effectLst/>
                <a:latin typeface="-apple-system"/>
              </a:rPr>
              <a:t>Đánh giá mô hình:</a:t>
            </a:r>
            <a:r>
              <a:rPr lang="vi-VN" b="0" i="0" dirty="0">
                <a:solidFill>
                  <a:srgbClr val="111111"/>
                </a:solidFill>
                <a:effectLst/>
                <a:latin typeface="-apple-system"/>
              </a:rPr>
              <a:t> Các phương pháp cross-validation, metrics để đánh giá hiệu suất mô hình.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vi-VN" b="1" i="0" dirty="0">
                <a:solidFill>
                  <a:srgbClr val="111111"/>
                </a:solidFill>
                <a:effectLst/>
                <a:latin typeface="-apple-system"/>
              </a:rPr>
              <a:t>Tích hợp:</a:t>
            </a:r>
            <a:r>
              <a:rPr lang="vi-VN" b="0" i="0" dirty="0">
                <a:solidFill>
                  <a:srgbClr val="111111"/>
                </a:solidFill>
                <a:effectLst/>
                <a:latin typeface="-apple-system"/>
              </a:rPr>
              <a:t> Dễ dàng tích hợp với các thư viện khác như pandas, NumPy.</a:t>
            </a:r>
          </a:p>
          <a:p>
            <a:r>
              <a:rPr lang="vi-VN" b="1" i="0" dirty="0">
                <a:solidFill>
                  <a:srgbClr val="111111"/>
                </a:solidFill>
                <a:effectLst/>
                <a:latin typeface="-apple-system"/>
              </a:rPr>
              <a:t>Ứng dụng thực tế:</a:t>
            </a:r>
            <a:endParaRPr lang="vi-VN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lvl="1" algn="l">
              <a:buFont typeface="Wingdings" panose="05000000000000000000" pitchFamily="2" charset="2"/>
              <a:buChar char="ü"/>
            </a:pPr>
            <a:r>
              <a:rPr lang="vi-VN" b="0" i="0" dirty="0">
                <a:solidFill>
                  <a:srgbClr val="111111"/>
                </a:solidFill>
                <a:effectLst/>
                <a:latin typeface="-apple-system"/>
              </a:rPr>
              <a:t>Sử dụng trong nhiều lĩnh vực như tài chính, y tế, marketing, và nhiều lĩnh vực khác.</a:t>
            </a:r>
          </a:p>
          <a:p>
            <a:pPr lvl="1" algn="l">
              <a:buFont typeface="Wingdings" panose="05000000000000000000" pitchFamily="2" charset="2"/>
              <a:buChar char="ü"/>
            </a:pPr>
            <a:r>
              <a:rPr lang="vi-VN" b="0" i="0" dirty="0">
                <a:solidFill>
                  <a:srgbClr val="111111"/>
                </a:solidFill>
                <a:effectLst/>
                <a:latin typeface="-apple-system"/>
              </a:rPr>
              <a:t>Ví dụ: Dự đoán giá cổ phiếu, phân loại email spam, phân tích hình ảnh y tế.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876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A7F3E-7F46-362A-99B9-4CA25A7C7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i="0" dirty="0">
                <a:solidFill>
                  <a:srgbClr val="111111"/>
                </a:solidFill>
                <a:effectLst/>
                <a:latin typeface="-apple-system"/>
              </a:rPr>
              <a:t>Tiền xử lý dữ liệu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97B7D-4389-7715-A480-61887ABA7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011"/>
            <a:ext cx="6324804" cy="4351338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vi-VN" b="1" i="0" dirty="0">
                <a:solidFill>
                  <a:srgbClr val="111111"/>
                </a:solidFill>
                <a:effectLst/>
                <a:latin typeface="-apple-system"/>
              </a:rPr>
              <a:t>Làm sạch dữ liệu</a:t>
            </a:r>
            <a:r>
              <a:rPr lang="vi-VN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111111"/>
                </a:solidFill>
                <a:effectLst/>
                <a:latin typeface="-apple-system"/>
              </a:rPr>
              <a:t>Xử lý các giá trị thiếu: Loại bỏ hoặc thay thế các giá trị thiếu bằng trung bình, trung vị, hoặc giá trị gần nhất.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111111"/>
                </a:solidFill>
                <a:effectLst/>
                <a:latin typeface="-apple-system"/>
              </a:rPr>
              <a:t>Loại bỏ các giá trị ngoại lệ: Sử dụng các phương pháp thống kê để xác định và loại bỏ các giá trị ngoại lệ.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vi-VN" b="1" i="0" dirty="0">
                <a:solidFill>
                  <a:srgbClr val="111111"/>
                </a:solidFill>
                <a:effectLst/>
                <a:latin typeface="-apple-system"/>
              </a:rPr>
              <a:t>Chuẩn hóa dữ liệu</a:t>
            </a:r>
            <a:r>
              <a:rPr lang="vi-VN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111111"/>
                </a:solidFill>
                <a:effectLst/>
                <a:latin typeface="-apple-system"/>
              </a:rPr>
              <a:t>Sử dụng các kỹ thuật như Min-Max Scaling hoặc Standard Scaling để chuẩn hóa dữ liệu, đảm bảo các đặc điểm có cùng đơn vị đo lường.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4AF6BC-1180-F1A2-4CF6-14BCA56E9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005" y="1612631"/>
            <a:ext cx="5028996" cy="221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29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FF4CA-F18C-00D0-C7A6-817950959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Các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Thuật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toán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Học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Máy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9B276-66BD-5158-A9AA-F11DB6DCA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16" y="1690688"/>
            <a:ext cx="5579076" cy="43513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111111"/>
                </a:solidFill>
                <a:latin typeface="-apple-system"/>
              </a:rPr>
              <a:t>1</a:t>
            </a:r>
            <a:r>
              <a:rPr lang="vi-VN" sz="1800" b="1" dirty="0">
                <a:solidFill>
                  <a:srgbClr val="111111"/>
                </a:solidFill>
                <a:latin typeface="-apple-system"/>
              </a:rPr>
              <a:t>. Hồi quy (Regression)</a:t>
            </a:r>
          </a:p>
          <a:p>
            <a:pPr algn="just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vi-VN" sz="1500" b="1" i="0" dirty="0">
                <a:solidFill>
                  <a:srgbClr val="111111"/>
                </a:solidFill>
                <a:effectLst/>
                <a:latin typeface="-apple-system"/>
              </a:rPr>
              <a:t>Hồi quy Tuyến tính (Linear Regression)</a:t>
            </a:r>
            <a:r>
              <a:rPr lang="vi-VN" sz="1500" b="0" i="0" dirty="0">
                <a:solidFill>
                  <a:srgbClr val="111111"/>
                </a:solidFill>
                <a:effectLst/>
                <a:latin typeface="-apple-system"/>
              </a:rPr>
              <a:t>: Dự đoán giá trị liên tục dựa trên mối quan hệ tuyến tính.</a:t>
            </a:r>
          </a:p>
          <a:p>
            <a:pPr algn="just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vi-VN" sz="1500" b="1" i="0" dirty="0">
                <a:solidFill>
                  <a:srgbClr val="111111"/>
                </a:solidFill>
                <a:effectLst/>
                <a:latin typeface="-apple-system"/>
              </a:rPr>
              <a:t>Hồi quy Đa thức (Polynomial Regression)</a:t>
            </a:r>
            <a:r>
              <a:rPr lang="vi-VN" sz="1500" b="0" i="0" dirty="0">
                <a:solidFill>
                  <a:srgbClr val="111111"/>
                </a:solidFill>
                <a:effectLst/>
                <a:latin typeface="-apple-system"/>
              </a:rPr>
              <a:t>: Mở rộng hồi quy tuyến tính bằng cách thêm các bậc đa thức.</a:t>
            </a:r>
          </a:p>
          <a:p>
            <a:pPr algn="just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vi-VN" sz="1500" b="1" i="0" dirty="0">
                <a:solidFill>
                  <a:srgbClr val="111111"/>
                </a:solidFill>
                <a:effectLst/>
                <a:latin typeface="-apple-system"/>
              </a:rPr>
              <a:t>Hồi quy Ridge (Ridge Regression)</a:t>
            </a:r>
            <a:r>
              <a:rPr lang="vi-VN" sz="1500" b="0" i="0" dirty="0">
                <a:solidFill>
                  <a:srgbClr val="111111"/>
                </a:solidFill>
                <a:effectLst/>
                <a:latin typeface="-apple-system"/>
              </a:rPr>
              <a:t>: Hồi quy tuyến tính với điều chỉnh để giảm overfitting.</a:t>
            </a:r>
          </a:p>
          <a:p>
            <a:pPr algn="just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vi-VN" sz="1500" b="1" i="0" dirty="0">
                <a:solidFill>
                  <a:srgbClr val="111111"/>
                </a:solidFill>
                <a:effectLst/>
                <a:latin typeface="-apple-system"/>
              </a:rPr>
              <a:t>Hồi quy Lasso (Lasso Regression)</a:t>
            </a:r>
            <a:r>
              <a:rPr lang="vi-VN" sz="1500" b="0" i="0" dirty="0">
                <a:solidFill>
                  <a:srgbClr val="111111"/>
                </a:solidFill>
                <a:effectLst/>
                <a:latin typeface="-apple-system"/>
              </a:rPr>
              <a:t>: Tương tự Ridge nhưng với điều chỉnh L1 để chọn đặc trưng.</a:t>
            </a:r>
            <a:endParaRPr lang="en-US" sz="1500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111111"/>
                </a:solidFill>
                <a:latin typeface="-apple-system"/>
              </a:rPr>
              <a:t>2</a:t>
            </a:r>
            <a:r>
              <a:rPr lang="vi-VN" sz="1800" b="1" i="0" dirty="0">
                <a:solidFill>
                  <a:srgbClr val="111111"/>
                </a:solidFill>
                <a:effectLst/>
                <a:latin typeface="-apple-system"/>
              </a:rPr>
              <a:t>. Phân loại (Classification)</a:t>
            </a:r>
          </a:p>
          <a:p>
            <a:pPr algn="just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vi-VN" sz="1500" b="1" i="0" dirty="0">
                <a:solidFill>
                  <a:srgbClr val="111111"/>
                </a:solidFill>
                <a:effectLst/>
                <a:latin typeface="-apple-system"/>
              </a:rPr>
              <a:t>Hồi quy Logistic (Logistic Regression)</a:t>
            </a:r>
            <a:r>
              <a:rPr lang="vi-VN" sz="1500" b="0" i="0" dirty="0">
                <a:solidFill>
                  <a:srgbClr val="111111"/>
                </a:solidFill>
                <a:effectLst/>
                <a:latin typeface="-apple-system"/>
              </a:rPr>
              <a:t>: Dùng để phân loại nhị phân.</a:t>
            </a:r>
          </a:p>
          <a:p>
            <a:pPr algn="just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vi-VN" sz="1500" b="1" i="0" dirty="0">
                <a:solidFill>
                  <a:srgbClr val="111111"/>
                </a:solidFill>
                <a:effectLst/>
                <a:latin typeface="-apple-system"/>
              </a:rPr>
              <a:t>Máy Vector Hỗ trợ (Support Vector Machines - SVM)</a:t>
            </a:r>
            <a:r>
              <a:rPr lang="vi-VN" sz="1500" b="0" i="0" dirty="0">
                <a:solidFill>
                  <a:srgbClr val="111111"/>
                </a:solidFill>
                <a:effectLst/>
                <a:latin typeface="-apple-system"/>
              </a:rPr>
              <a:t>: Tìm siêu phẳng phân chia tốt nhất giữa các lớp.</a:t>
            </a:r>
          </a:p>
          <a:p>
            <a:pPr algn="just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vi-VN" sz="1500" b="1" i="0" dirty="0">
                <a:solidFill>
                  <a:srgbClr val="111111"/>
                </a:solidFill>
                <a:effectLst/>
                <a:latin typeface="-apple-system"/>
              </a:rPr>
              <a:t>Cây Quyết định (Decision Trees)</a:t>
            </a:r>
            <a:r>
              <a:rPr lang="vi-VN" sz="1500" b="0" i="0" dirty="0">
                <a:solidFill>
                  <a:srgbClr val="111111"/>
                </a:solidFill>
                <a:effectLst/>
                <a:latin typeface="-apple-system"/>
              </a:rPr>
              <a:t>: Phân loại dựa trên các tiêu chí quyết định.</a:t>
            </a:r>
          </a:p>
          <a:p>
            <a:pPr algn="just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vi-VN" sz="1500" b="1" i="0" dirty="0">
                <a:solidFill>
                  <a:srgbClr val="111111"/>
                </a:solidFill>
                <a:effectLst/>
                <a:latin typeface="-apple-system"/>
              </a:rPr>
              <a:t>Rừng Ngẫu nhiên (Random Forests)</a:t>
            </a:r>
            <a:r>
              <a:rPr lang="vi-VN" sz="1500" b="0" i="0" dirty="0">
                <a:solidFill>
                  <a:srgbClr val="111111"/>
                </a:solidFill>
                <a:effectLst/>
                <a:latin typeface="-apple-system"/>
              </a:rPr>
              <a:t>: Kết hợp nhiều cây quyết định để cải thiện độ chính xác.</a:t>
            </a:r>
          </a:p>
          <a:p>
            <a:pPr algn="just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vi-VN" sz="1500" b="1" i="0" dirty="0">
                <a:solidFill>
                  <a:srgbClr val="111111"/>
                </a:solidFill>
                <a:effectLst/>
                <a:latin typeface="-apple-system"/>
              </a:rPr>
              <a:t>k-Điểm Gần Nhất (k-Nearest Neighbors - k-NN)</a:t>
            </a:r>
            <a:r>
              <a:rPr lang="vi-VN" sz="1500" b="0" i="0" dirty="0">
                <a:solidFill>
                  <a:srgbClr val="111111"/>
                </a:solidFill>
                <a:effectLst/>
                <a:latin typeface="-apple-system"/>
              </a:rPr>
              <a:t>: Phân loại dựa trên các điểm gần nhất trong không gian đặc trưng.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endParaRPr lang="vi-VN" sz="1500" b="0" i="0" dirty="0">
              <a:solidFill>
                <a:srgbClr val="111111"/>
              </a:solidFill>
              <a:effectLst/>
              <a:latin typeface="-apple-system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6BA7940-3BFA-2C01-D6ED-2210449CF8FC}"/>
              </a:ext>
            </a:extLst>
          </p:cNvPr>
          <p:cNvSpPr txBox="1">
            <a:spLocks/>
          </p:cNvSpPr>
          <p:nvPr/>
        </p:nvSpPr>
        <p:spPr>
          <a:xfrm>
            <a:off x="6540844" y="1690688"/>
            <a:ext cx="5579076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111111"/>
                </a:solidFill>
                <a:latin typeface="-apple-system"/>
              </a:rPr>
              <a:t>3. </a:t>
            </a:r>
            <a:r>
              <a:rPr lang="vi-VN" sz="1800" b="1" dirty="0">
                <a:solidFill>
                  <a:srgbClr val="111111"/>
                </a:solidFill>
                <a:latin typeface="-apple-system"/>
              </a:rPr>
              <a:t>Phân cụm (Clustering)</a:t>
            </a:r>
          </a:p>
          <a:p>
            <a:pPr algn="just">
              <a:spcBef>
                <a:spcPts val="300"/>
              </a:spcBef>
            </a:pPr>
            <a:r>
              <a:rPr lang="vi-VN" sz="1500" b="1" dirty="0">
                <a:solidFill>
                  <a:srgbClr val="111111"/>
                </a:solidFill>
                <a:latin typeface="-apple-system"/>
              </a:rPr>
              <a:t>K-Means</a:t>
            </a:r>
            <a:r>
              <a:rPr lang="vi-VN" sz="1500" dirty="0">
                <a:solidFill>
                  <a:srgbClr val="111111"/>
                </a:solidFill>
                <a:latin typeface="-apple-system"/>
              </a:rPr>
              <a:t>: Phân cụm dữ liệu thành k nhóm dựa trên khoảng cách.</a:t>
            </a:r>
          </a:p>
          <a:p>
            <a:pPr algn="just">
              <a:spcBef>
                <a:spcPts val="300"/>
              </a:spcBef>
            </a:pPr>
            <a:r>
              <a:rPr lang="vi-VN" sz="1500" b="1" dirty="0">
                <a:solidFill>
                  <a:srgbClr val="111111"/>
                </a:solidFill>
                <a:latin typeface="-apple-system"/>
              </a:rPr>
              <a:t>Mean Shift</a:t>
            </a:r>
            <a:r>
              <a:rPr lang="vi-VN" sz="1500" dirty="0">
                <a:solidFill>
                  <a:srgbClr val="111111"/>
                </a:solidFill>
                <a:latin typeface="-apple-system"/>
              </a:rPr>
              <a:t>: Phân cụm không cần xác định trước số lượng cụm.</a:t>
            </a:r>
          </a:p>
          <a:p>
            <a:pPr algn="just">
              <a:spcBef>
                <a:spcPts val="300"/>
              </a:spcBef>
            </a:pPr>
            <a:r>
              <a:rPr lang="vi-VN" sz="1500" b="1" dirty="0">
                <a:solidFill>
                  <a:srgbClr val="111111"/>
                </a:solidFill>
                <a:latin typeface="-apple-system"/>
              </a:rPr>
              <a:t>DBSCAN</a:t>
            </a:r>
            <a:r>
              <a:rPr lang="vi-VN" sz="1500" dirty="0">
                <a:solidFill>
                  <a:srgbClr val="111111"/>
                </a:solidFill>
                <a:latin typeface="-apple-system"/>
              </a:rPr>
              <a:t>: Phân cụm dựa trên mật độ điểm dữ liệu.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vi-VN" sz="1800" b="1" dirty="0">
                <a:solidFill>
                  <a:srgbClr val="111111"/>
                </a:solidFill>
                <a:latin typeface="-apple-system"/>
              </a:rPr>
              <a:t>4. Giảm chiều (Dimensionality Reduction)</a:t>
            </a:r>
          </a:p>
          <a:p>
            <a:pPr algn="just">
              <a:spcBef>
                <a:spcPts val="300"/>
              </a:spcBef>
            </a:pPr>
            <a:r>
              <a:rPr lang="vi-VN" sz="1500" b="1" dirty="0">
                <a:solidFill>
                  <a:srgbClr val="111111"/>
                </a:solidFill>
                <a:latin typeface="-apple-system"/>
              </a:rPr>
              <a:t>Phân tích Thành phần Chính (Principal Component Analysis - PCA)</a:t>
            </a:r>
            <a:r>
              <a:rPr lang="vi-VN" sz="1500" dirty="0">
                <a:solidFill>
                  <a:srgbClr val="111111"/>
                </a:solidFill>
                <a:latin typeface="-apple-system"/>
              </a:rPr>
              <a:t>: Giảm số chiều của dữ liệu bằng cách tìm các thành phần chính.</a:t>
            </a:r>
          </a:p>
          <a:p>
            <a:pPr algn="just">
              <a:spcBef>
                <a:spcPts val="300"/>
              </a:spcBef>
            </a:pPr>
            <a:r>
              <a:rPr lang="vi-VN" sz="1500" b="1" dirty="0">
                <a:solidFill>
                  <a:srgbClr val="111111"/>
                </a:solidFill>
                <a:latin typeface="-apple-system"/>
              </a:rPr>
              <a:t>T-SNE</a:t>
            </a:r>
            <a:r>
              <a:rPr lang="vi-VN" sz="1500" dirty="0">
                <a:solidFill>
                  <a:srgbClr val="111111"/>
                </a:solidFill>
                <a:latin typeface="-apple-system"/>
              </a:rPr>
              <a:t>: Giảm chiều dữ liệu để trực quan hóa trong không gian 2D hoặc 3D.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vi-VN" sz="1800" b="1" dirty="0">
                <a:solidFill>
                  <a:srgbClr val="111111"/>
                </a:solidFill>
                <a:latin typeface="-apple-system"/>
              </a:rPr>
              <a:t>5. Các phương pháp Ensemble</a:t>
            </a:r>
          </a:p>
          <a:p>
            <a:pPr algn="just">
              <a:spcBef>
                <a:spcPts val="300"/>
              </a:spcBef>
            </a:pPr>
            <a:r>
              <a:rPr lang="vi-VN" sz="1500" b="1" dirty="0">
                <a:solidFill>
                  <a:srgbClr val="111111"/>
                </a:solidFill>
                <a:latin typeface="-apple-system"/>
              </a:rPr>
              <a:t>Bagging</a:t>
            </a:r>
            <a:r>
              <a:rPr lang="vi-VN" sz="1500" dirty="0">
                <a:solidFill>
                  <a:srgbClr val="111111"/>
                </a:solidFill>
                <a:latin typeface="-apple-system"/>
              </a:rPr>
              <a:t>: Kết hợp nhiều mô hình học máy để cải thiện độ chính xác.</a:t>
            </a:r>
          </a:p>
          <a:p>
            <a:pPr algn="just">
              <a:spcBef>
                <a:spcPts val="300"/>
              </a:spcBef>
            </a:pPr>
            <a:r>
              <a:rPr lang="vi-VN" sz="1500" b="1" dirty="0">
                <a:solidFill>
                  <a:srgbClr val="111111"/>
                </a:solidFill>
                <a:latin typeface="-apple-system"/>
              </a:rPr>
              <a:t>Boosting</a:t>
            </a:r>
            <a:r>
              <a:rPr lang="vi-VN" sz="1500" dirty="0">
                <a:solidFill>
                  <a:srgbClr val="111111"/>
                </a:solidFill>
                <a:latin typeface="-apple-system"/>
              </a:rPr>
              <a:t>: Tăng cường các mô hình yếu để tạo thành một mô hình mạnh hơn (ví dụ: AdaBoost, Gradient Boosting).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vi-VN" sz="1800" b="1" dirty="0">
                <a:solidFill>
                  <a:srgbClr val="111111"/>
                </a:solidFill>
                <a:latin typeface="-apple-system"/>
              </a:rPr>
              <a:t>6. Các công cụ khác</a:t>
            </a:r>
          </a:p>
          <a:p>
            <a:pPr algn="just">
              <a:spcBef>
                <a:spcPts val="300"/>
              </a:spcBef>
            </a:pPr>
            <a:r>
              <a:rPr lang="vi-VN" sz="1500" b="1" dirty="0">
                <a:solidFill>
                  <a:srgbClr val="111111"/>
                </a:solidFill>
                <a:latin typeface="-apple-system"/>
              </a:rPr>
              <a:t>Cross-Validation</a:t>
            </a:r>
            <a:r>
              <a:rPr lang="vi-VN" sz="1500" dirty="0">
                <a:solidFill>
                  <a:srgbClr val="111111"/>
                </a:solidFill>
                <a:latin typeface="-apple-system"/>
              </a:rPr>
              <a:t>: Đánh giá hiệu suất mô hình bằng cách chia dữ liệu thành nhiều tập con.</a:t>
            </a:r>
          </a:p>
          <a:p>
            <a:pPr algn="just">
              <a:spcBef>
                <a:spcPts val="300"/>
              </a:spcBef>
            </a:pPr>
            <a:r>
              <a:rPr lang="vi-VN" sz="1500" b="1" dirty="0">
                <a:solidFill>
                  <a:srgbClr val="111111"/>
                </a:solidFill>
                <a:latin typeface="-apple-system"/>
              </a:rPr>
              <a:t>Grid Search</a:t>
            </a:r>
            <a:r>
              <a:rPr lang="vi-VN" sz="1500" dirty="0">
                <a:solidFill>
                  <a:srgbClr val="111111"/>
                </a:solidFill>
                <a:latin typeface="-apple-system"/>
              </a:rPr>
              <a:t>: Tìm kiếm tham số tối ưu cho mô hình.</a:t>
            </a:r>
          </a:p>
        </p:txBody>
      </p:sp>
    </p:spTree>
    <p:extLst>
      <p:ext uri="{BB962C8B-B14F-4D97-AF65-F5344CB8AC3E}">
        <p14:creationId xmlns:p14="http://schemas.microsoft.com/office/powerpoint/2010/main" val="764738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6145A-637E-5761-C955-6967D618D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Hồi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quy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Tuyến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tính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 (Linear Regression)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439B3-B090-A79F-B0CE-B340BD175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i="0" dirty="0">
                <a:solidFill>
                  <a:srgbClr val="111111"/>
                </a:solidFill>
                <a:effectLst/>
                <a:latin typeface="-apple-system"/>
              </a:rPr>
              <a:t>1. </a:t>
            </a:r>
            <a:r>
              <a:rPr lang="en-US" sz="1400" b="1" i="0" dirty="0" err="1">
                <a:solidFill>
                  <a:srgbClr val="111111"/>
                </a:solidFill>
                <a:effectLst/>
                <a:latin typeface="-apple-system"/>
              </a:rPr>
              <a:t>Định</a:t>
            </a:r>
            <a:r>
              <a:rPr lang="en-US" sz="1400" b="1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1" i="0" dirty="0" err="1">
                <a:solidFill>
                  <a:srgbClr val="111111"/>
                </a:solidFill>
                <a:effectLst/>
                <a:latin typeface="-apple-system"/>
              </a:rPr>
              <a:t>nghĩa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: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Hồi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quy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tuyến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tính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là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một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thuật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toán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học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máy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dùng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để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dự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đoán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giá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trị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của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một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biến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phụ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thuộc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(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biến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mục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tiêu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)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dựa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trên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giá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trị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của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một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hoặc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nhiều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biến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độc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lập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(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biến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dự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đoán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).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Mô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hình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này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giả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định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mối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quan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hệ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tuyến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tính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giữa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các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biến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.</a:t>
            </a:r>
          </a:p>
          <a:p>
            <a:pPr marL="0" indent="0">
              <a:buNone/>
            </a:pPr>
            <a:endParaRPr lang="en-US" sz="1400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r>
              <a:rPr lang="en-US" sz="1400" b="1" i="0" dirty="0">
                <a:solidFill>
                  <a:srgbClr val="111111"/>
                </a:solidFill>
                <a:effectLst/>
                <a:latin typeface="-apple-system"/>
              </a:rPr>
              <a:t>2. </a:t>
            </a:r>
            <a:r>
              <a:rPr lang="vi-VN" sz="1400" b="1" i="0" dirty="0">
                <a:solidFill>
                  <a:srgbClr val="111111"/>
                </a:solidFill>
                <a:effectLst/>
                <a:latin typeface="-apple-system"/>
              </a:rPr>
              <a:t>Ứng dụng</a:t>
            </a:r>
            <a:r>
              <a:rPr lang="en-US" sz="1400" b="1" i="0" dirty="0">
                <a:solidFill>
                  <a:srgbClr val="111111"/>
                </a:solidFill>
                <a:effectLst/>
                <a:latin typeface="-apple-system"/>
              </a:rPr>
              <a:t>: </a:t>
            </a:r>
          </a:p>
          <a:p>
            <a:pPr lvl="1"/>
            <a:r>
              <a:rPr lang="vi-VN" sz="1400" b="1" i="0" dirty="0">
                <a:solidFill>
                  <a:srgbClr val="111111"/>
                </a:solidFill>
                <a:effectLst/>
                <a:latin typeface="-apple-system"/>
              </a:rPr>
              <a:t>Dự đoán giá nhà</a:t>
            </a:r>
            <a:r>
              <a:rPr lang="vi-VN" sz="1400" b="0" i="0" dirty="0">
                <a:solidFill>
                  <a:srgbClr val="111111"/>
                </a:solidFill>
                <a:effectLst/>
                <a:latin typeface="-apple-system"/>
              </a:rPr>
              <a:t>: Dự đoán giá trị của một ngôi nhà dựa trên các đặc điểm như diện tích, số phòng, vị trí.</a:t>
            </a:r>
          </a:p>
          <a:p>
            <a:pPr lvl="1"/>
            <a:r>
              <a:rPr lang="vi-VN" sz="1400" b="1" i="0" dirty="0">
                <a:solidFill>
                  <a:srgbClr val="111111"/>
                </a:solidFill>
                <a:effectLst/>
                <a:latin typeface="-apple-system"/>
              </a:rPr>
              <a:t>Phân tích tài chính</a:t>
            </a:r>
            <a:r>
              <a:rPr lang="vi-VN" sz="1400" b="0" i="0" dirty="0">
                <a:solidFill>
                  <a:srgbClr val="111111"/>
                </a:solidFill>
                <a:effectLst/>
                <a:latin typeface="-apple-system"/>
              </a:rPr>
              <a:t>: Dự đoán doanh thu, lợi nhuận dựa trên các yếu tố kinh tế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,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dự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đoán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giá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tiếp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theo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cổ</a:t>
            </a:r>
            <a:r>
              <a:rPr lang="en-US" sz="14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400" b="0" i="0" dirty="0" err="1">
                <a:solidFill>
                  <a:srgbClr val="111111"/>
                </a:solidFill>
                <a:effectLst/>
                <a:latin typeface="-apple-system"/>
              </a:rPr>
              <a:t>phiếu</a:t>
            </a:r>
            <a:r>
              <a:rPr lang="vi-VN" sz="1400" b="0" i="0" dirty="0">
                <a:solidFill>
                  <a:srgbClr val="111111"/>
                </a:solidFill>
                <a:effectLst/>
                <a:latin typeface="-apple-system"/>
              </a:rPr>
              <a:t>.</a:t>
            </a:r>
          </a:p>
          <a:p>
            <a:pPr lvl="1"/>
            <a:r>
              <a:rPr lang="vi-VN" sz="1400" b="1" i="0" dirty="0">
                <a:solidFill>
                  <a:srgbClr val="111111"/>
                </a:solidFill>
                <a:effectLst/>
                <a:latin typeface="-apple-system"/>
              </a:rPr>
              <a:t>Y học</a:t>
            </a:r>
            <a:r>
              <a:rPr lang="vi-VN" sz="1400" b="0" i="0" dirty="0">
                <a:solidFill>
                  <a:srgbClr val="111111"/>
                </a:solidFill>
                <a:effectLst/>
                <a:latin typeface="-apple-system"/>
              </a:rPr>
              <a:t>: Dự đoán chỉ số sức khỏe dựa trên các yếu tố như tuổi, cân nặng, lối sống.</a:t>
            </a:r>
          </a:p>
          <a:p>
            <a:pPr lvl="1"/>
            <a:r>
              <a:rPr lang="vi-VN" sz="1400" b="1" i="0" dirty="0">
                <a:solidFill>
                  <a:srgbClr val="111111"/>
                </a:solidFill>
                <a:effectLst/>
                <a:latin typeface="-apple-system"/>
              </a:rPr>
              <a:t>Tiếp thị</a:t>
            </a:r>
            <a:r>
              <a:rPr lang="vi-VN" sz="1400" b="0" i="0" dirty="0">
                <a:solidFill>
                  <a:srgbClr val="111111"/>
                </a:solidFill>
                <a:effectLst/>
                <a:latin typeface="-apple-system"/>
              </a:rPr>
              <a:t>: Dự đoán doanh số bán hàng dựa trên chi phí quảng cáo, khuyến mãi.</a:t>
            </a:r>
            <a:r>
              <a:rPr lang="vi-VN" sz="1400" b="1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endParaRPr lang="en-US" sz="1400" b="1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-apple-system"/>
              </a:rPr>
              <a:t>3. </a:t>
            </a:r>
            <a:r>
              <a:rPr lang="vi-VN" sz="1400" b="1" i="0" dirty="0">
                <a:solidFill>
                  <a:srgbClr val="111111"/>
                </a:solidFill>
                <a:effectLst/>
                <a:latin typeface="-apple-system"/>
              </a:rPr>
              <a:t>Ưu điểm</a:t>
            </a:r>
          </a:p>
          <a:p>
            <a:pPr lvl="1"/>
            <a:r>
              <a:rPr lang="vi-VN" sz="1400" b="1" i="0" dirty="0">
                <a:solidFill>
                  <a:srgbClr val="111111"/>
                </a:solidFill>
                <a:effectLst/>
                <a:latin typeface="-apple-system"/>
              </a:rPr>
              <a:t>Đơn giản và dễ hiểu</a:t>
            </a:r>
            <a:r>
              <a:rPr lang="vi-VN" sz="1400" b="0" i="0" dirty="0">
                <a:solidFill>
                  <a:srgbClr val="111111"/>
                </a:solidFill>
                <a:effectLst/>
                <a:latin typeface="-apple-system"/>
              </a:rPr>
              <a:t>: Mô hình hồi quy tuyến tính có cú pháp đơn giản và dễ hiểu, dễ dàng triển khai và giải thích.</a:t>
            </a:r>
          </a:p>
          <a:p>
            <a:pPr lvl="1"/>
            <a:r>
              <a:rPr lang="vi-VN" sz="1400" b="1" i="0" dirty="0">
                <a:solidFill>
                  <a:srgbClr val="111111"/>
                </a:solidFill>
                <a:effectLst/>
                <a:latin typeface="-apple-system"/>
              </a:rPr>
              <a:t>Hiệu quả với dữ liệu tuyến tính</a:t>
            </a:r>
            <a:r>
              <a:rPr lang="vi-VN" sz="1400" b="0" i="0" dirty="0">
                <a:solidFill>
                  <a:srgbClr val="111111"/>
                </a:solidFill>
                <a:effectLst/>
                <a:latin typeface="-apple-system"/>
              </a:rPr>
              <a:t>: Hoạt động tốt khi mối quan hệ giữa các biến là tuyến tính.</a:t>
            </a:r>
          </a:p>
          <a:p>
            <a:pPr lvl="1"/>
            <a:r>
              <a:rPr lang="vi-VN" sz="1400" b="1" i="0" dirty="0">
                <a:solidFill>
                  <a:srgbClr val="111111"/>
                </a:solidFill>
                <a:effectLst/>
                <a:latin typeface="-apple-system"/>
              </a:rPr>
              <a:t>Giải thích được</a:t>
            </a:r>
            <a:r>
              <a:rPr lang="vi-VN" sz="1400" b="0" i="0" dirty="0">
                <a:solidFill>
                  <a:srgbClr val="111111"/>
                </a:solidFill>
                <a:effectLst/>
                <a:latin typeface="-apple-system"/>
              </a:rPr>
              <a:t>: Các hệ số hồi quy có thể được diễn giải để hiểu ảnh hưởng của từng biến độc lập đến biến phụ thuộc.</a:t>
            </a:r>
          </a:p>
          <a:p>
            <a:pPr marL="0" indent="0" algn="l">
              <a:buNone/>
            </a:pPr>
            <a:r>
              <a:rPr lang="en-US" sz="1400" b="1" i="0" dirty="0">
                <a:solidFill>
                  <a:srgbClr val="111111"/>
                </a:solidFill>
                <a:effectLst/>
                <a:latin typeface="-apple-system"/>
              </a:rPr>
              <a:t>4. </a:t>
            </a:r>
            <a:r>
              <a:rPr lang="vi-VN" sz="1400" b="1" i="0" dirty="0">
                <a:solidFill>
                  <a:srgbClr val="111111"/>
                </a:solidFill>
                <a:effectLst/>
                <a:latin typeface="-apple-system"/>
              </a:rPr>
              <a:t>Nhược điểm</a:t>
            </a:r>
          </a:p>
          <a:p>
            <a:pPr lvl="1"/>
            <a:r>
              <a:rPr lang="vi-VN" sz="1400" b="1" i="0" dirty="0">
                <a:solidFill>
                  <a:srgbClr val="111111"/>
                </a:solidFill>
                <a:effectLst/>
                <a:latin typeface="-apple-system"/>
              </a:rPr>
              <a:t>Giới hạn trong mối quan hệ tuyến tính</a:t>
            </a:r>
            <a:r>
              <a:rPr lang="vi-VN" sz="1400" b="0" i="0" dirty="0">
                <a:solidFill>
                  <a:srgbClr val="111111"/>
                </a:solidFill>
                <a:effectLst/>
                <a:latin typeface="-apple-system"/>
              </a:rPr>
              <a:t>: Hồi quy tuyến tính chỉ hoạt động tốt khi mối quan hệ giữa các biến là tuyến tính. Nếu dữ liệu không tuyến tính, hiệu suất sẽ giảm.</a:t>
            </a:r>
          </a:p>
          <a:p>
            <a:pPr lvl="1"/>
            <a:r>
              <a:rPr lang="vi-VN" sz="1400" b="1" i="0" dirty="0">
                <a:solidFill>
                  <a:srgbClr val="111111"/>
                </a:solidFill>
                <a:effectLst/>
                <a:latin typeface="-apple-system"/>
              </a:rPr>
              <a:t>Nhạy cảm với outliers</a:t>
            </a:r>
            <a:r>
              <a:rPr lang="vi-VN" sz="1400" b="0" i="0" dirty="0">
                <a:solidFill>
                  <a:srgbClr val="111111"/>
                </a:solidFill>
                <a:effectLst/>
                <a:latin typeface="-apple-system"/>
              </a:rPr>
              <a:t>: Các giá trị ngoại lệ có thể ảnh hưởng lớn đến mô hình.</a:t>
            </a:r>
          </a:p>
          <a:p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2A5F89-F3EE-6FA6-2ACC-EC7F6BE26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373" y="2254667"/>
            <a:ext cx="3436486" cy="43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249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3E940-9F68-C615-DB97-30E4E8CD8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i="0" dirty="0">
                <a:solidFill>
                  <a:srgbClr val="111111"/>
                </a:solidFill>
                <a:effectLst/>
                <a:latin typeface="-apple-system"/>
              </a:rPr>
              <a:t>Đánh giá mô hình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907BF-FE4D-021A-901A-8CE5AAA32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i="0" dirty="0">
                <a:solidFill>
                  <a:srgbClr val="111111"/>
                </a:solidFill>
                <a:effectLst/>
                <a:latin typeface="-apple-system"/>
              </a:rPr>
              <a:t>1. </a:t>
            </a:r>
            <a:r>
              <a:rPr lang="en-US" sz="1500" b="1" i="0" dirty="0" err="1">
                <a:solidFill>
                  <a:srgbClr val="111111"/>
                </a:solidFill>
                <a:effectLst/>
                <a:latin typeface="-apple-system"/>
              </a:rPr>
              <a:t>Mục</a:t>
            </a:r>
            <a:r>
              <a:rPr lang="en-US" sz="1500" b="1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1" i="0" dirty="0" err="1">
                <a:solidFill>
                  <a:srgbClr val="111111"/>
                </a:solidFill>
                <a:effectLst/>
                <a:latin typeface="-apple-system"/>
              </a:rPr>
              <a:t>tiêu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: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Đánh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giá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hiệu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suất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của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mô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hình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hồi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quy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tuyến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tính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để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đảm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bảo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mô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hình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dự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đoán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chính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xác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và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đáng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 tin </a:t>
            </a:r>
            <a:r>
              <a:rPr lang="en-US" sz="1500" b="0" i="0" dirty="0" err="1">
                <a:solidFill>
                  <a:srgbClr val="111111"/>
                </a:solidFill>
                <a:effectLst/>
                <a:latin typeface="-apple-system"/>
              </a:rPr>
              <a:t>cậy</a:t>
            </a:r>
            <a:r>
              <a:rPr lang="en-US" sz="1500" b="0" i="0" dirty="0">
                <a:solidFill>
                  <a:srgbClr val="111111"/>
                </a:solidFill>
                <a:effectLst/>
                <a:latin typeface="-apple-system"/>
              </a:rPr>
              <a:t>.</a:t>
            </a:r>
          </a:p>
          <a:p>
            <a:pPr marL="0" indent="0">
              <a:buNone/>
            </a:pPr>
            <a:r>
              <a:rPr lang="vi-VN" sz="1500" b="1" dirty="0"/>
              <a:t>2. Các Chỉ số Đánh giá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1500" b="1" dirty="0"/>
              <a:t>Mean Squared Error (MSE)</a:t>
            </a:r>
            <a:r>
              <a:rPr lang="vi-VN" sz="15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sz="1500" b="1" dirty="0"/>
              <a:t>Định nghĩa</a:t>
            </a:r>
            <a:r>
              <a:rPr lang="vi-VN" sz="1500" dirty="0"/>
              <a:t>: Đo lường độ chênh lệch trung bình giữa giá trị thực tế và giá trị dự đoán.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sz="1500" b="1" dirty="0"/>
              <a:t>Công thức</a:t>
            </a:r>
            <a:r>
              <a:rPr lang="vi-VN" sz="1500" dirty="0"/>
              <a:t>:</a:t>
            </a:r>
            <a:endParaRPr lang="en-US" sz="1500" dirty="0"/>
          </a:p>
          <a:p>
            <a:pPr marL="457200" lvl="1" indent="0">
              <a:buNone/>
            </a:pPr>
            <a:endParaRPr lang="vi-VN" sz="1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sz="1500" b="1" dirty="0"/>
              <a:t>Ý nghĩa</a:t>
            </a:r>
            <a:r>
              <a:rPr lang="vi-VN" sz="1500" dirty="0"/>
              <a:t>: MSE càng nhỏ, mô hình càng chính xác.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1500" b="1" dirty="0"/>
              <a:t>R-squared (R²)</a:t>
            </a:r>
            <a:r>
              <a:rPr lang="vi-VN" sz="15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sz="1500" b="1" dirty="0"/>
              <a:t>Định nghĩa</a:t>
            </a:r>
            <a:r>
              <a:rPr lang="vi-VN" sz="1500" dirty="0"/>
              <a:t>: Đo lường mức độ phù hợp của mô hình với dữ liệu.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sz="1500" b="1" dirty="0"/>
              <a:t>Công thức</a:t>
            </a:r>
            <a:r>
              <a:rPr lang="vi-VN" sz="1500" dirty="0"/>
              <a:t>:</a:t>
            </a:r>
            <a:endParaRPr lang="en-US" sz="1500" dirty="0"/>
          </a:p>
          <a:p>
            <a:pPr marL="457200" lvl="1" indent="0">
              <a:buNone/>
            </a:pPr>
            <a:endParaRPr lang="vi-VN" sz="1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sz="1500" b="1" dirty="0"/>
              <a:t>Ý nghĩa</a:t>
            </a:r>
            <a:r>
              <a:rPr lang="vi-VN" sz="1500" dirty="0"/>
              <a:t>: R² càng gần 1, mô hình càng giải thích tốt biến động của dữ liệu.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1500" b="1" dirty="0"/>
              <a:t>Mean Absolute Error (MAE)</a:t>
            </a:r>
            <a:r>
              <a:rPr lang="vi-VN" sz="15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sz="1500" b="1" dirty="0"/>
              <a:t>Định nghĩa</a:t>
            </a:r>
            <a:r>
              <a:rPr lang="vi-VN" sz="1500" dirty="0"/>
              <a:t>: Đo lường độ chênh lệch trung bình tuyệt đối giữa giá trị thực tế và giá trị dự đoán.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sz="1500" b="1" dirty="0"/>
              <a:t>Công thức</a:t>
            </a:r>
            <a:r>
              <a:rPr lang="vi-VN" sz="1500" dirty="0"/>
              <a:t>:</a:t>
            </a:r>
            <a:endParaRPr lang="en-US" sz="1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vi-VN" sz="1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sz="1500" b="1" dirty="0"/>
              <a:t>Ý nghĩa</a:t>
            </a:r>
            <a:r>
              <a:rPr lang="vi-VN" sz="1500" dirty="0"/>
              <a:t>: MAE càng nhỏ, mô hình càng chính xác.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0A4E85-64C9-A87A-F7A9-A78DA16496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61" b="6181"/>
          <a:stretch/>
        </p:blipFill>
        <p:spPr>
          <a:xfrm>
            <a:off x="9149555" y="2938999"/>
            <a:ext cx="2239523" cy="7597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5B3846-598C-590D-F922-E0CC78927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8937" y="4340697"/>
            <a:ext cx="2368904" cy="7169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D4528E-78E9-9CA6-3D59-101E42AF3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1643" y="5824177"/>
            <a:ext cx="2286198" cy="9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601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1356</TotalTime>
  <Words>1140</Words>
  <Application>Microsoft Office PowerPoint</Application>
  <PresentationFormat>Widescreen</PresentationFormat>
  <Paragraphs>78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-apple-system</vt:lpstr>
      <vt:lpstr>Arial</vt:lpstr>
      <vt:lpstr>Calibri</vt:lpstr>
      <vt:lpstr>Calibri Light</vt:lpstr>
      <vt:lpstr>Wingdings</vt:lpstr>
      <vt:lpstr>Office Theme</vt:lpstr>
      <vt:lpstr>CHỦ ĐỀ 6 Scikit-Learn</vt:lpstr>
      <vt:lpstr>Scikit-Learn</vt:lpstr>
      <vt:lpstr>Tiền xử lý dữ liệu</vt:lpstr>
      <vt:lpstr>Các Thuật toán Học Máy</vt:lpstr>
      <vt:lpstr>Hồi quy Tuyến tính (Linear Regression)</vt:lpstr>
      <vt:lpstr>Đánh giá mô hình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Tran</dc:creator>
  <cp:lastModifiedBy>Tom Tran</cp:lastModifiedBy>
  <cp:revision>7</cp:revision>
  <dcterms:created xsi:type="dcterms:W3CDTF">2024-10-25T06:43:39Z</dcterms:created>
  <dcterms:modified xsi:type="dcterms:W3CDTF">2024-11-19T04:31:04Z</dcterms:modified>
</cp:coreProperties>
</file>